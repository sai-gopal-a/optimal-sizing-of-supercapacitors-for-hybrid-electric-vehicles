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70" r:id="rId4"/>
  </p:sldMasterIdLst>
  <p:notesMasterIdLst>
    <p:notesMasterId r:id="rId20"/>
  </p:notesMasterIdLst>
  <p:handoutMasterIdLst>
    <p:handoutMasterId r:id="rId21"/>
  </p:handoutMasterIdLst>
  <p:sldIdLst>
    <p:sldId id="256" r:id="rId5"/>
    <p:sldId id="280" r:id="rId6"/>
    <p:sldId id="279" r:id="rId7"/>
    <p:sldId id="289" r:id="rId8"/>
    <p:sldId id="284" r:id="rId9"/>
    <p:sldId id="286" r:id="rId10"/>
    <p:sldId id="260" r:id="rId11"/>
    <p:sldId id="287" r:id="rId12"/>
    <p:sldId id="265" r:id="rId13"/>
    <p:sldId id="276" r:id="rId14"/>
    <p:sldId id="288" r:id="rId15"/>
    <p:sldId id="266" r:id="rId16"/>
    <p:sldId id="277" r:id="rId17"/>
    <p:sldId id="263" r:id="rId18"/>
    <p:sldId id="290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7080" userDrawn="1">
          <p15:clr>
            <a:srgbClr val="A4A3A4"/>
          </p15:clr>
        </p15:guide>
        <p15:guide id="3" pos="51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vertBarState="minimized" horzBarState="maximized">
    <p:restoredLeft sz="0" autoAdjust="0"/>
    <p:restoredTop sz="95388" autoAdjust="0"/>
  </p:normalViewPr>
  <p:slideViewPr>
    <p:cSldViewPr snapToGrid="0">
      <p:cViewPr>
        <p:scale>
          <a:sx n="53" d="100"/>
          <a:sy n="53" d="100"/>
        </p:scale>
        <p:origin x="2309" y="845"/>
      </p:cViewPr>
      <p:guideLst>
        <p:guide orient="horz" pos="1848"/>
        <p:guide pos="7080"/>
        <p:guide pos="5112"/>
      </p:guideLst>
    </p:cSldViewPr>
  </p:slideViewPr>
  <p:outlineViewPr>
    <p:cViewPr>
      <p:scale>
        <a:sx n="33" d="100"/>
        <a:sy n="33" d="100"/>
      </p:scale>
      <p:origin x="0" y="-4819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90" d="100"/>
        <a:sy n="9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84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80AE3C0-C0E9-40F8-963A-C710B0868CE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B19749-4C26-46F6-A13E-4F2E91EC14F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AB2F5F-49ED-40E3-A1A5-941FF8279870}" type="datetimeFigureOut">
              <a:rPr lang="en-US" smtClean="0"/>
              <a:t>1/8/2024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826E5B-3572-4EEA-91A0-FE0838ED614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1D8116-DB0F-4C4A-85AD-5331C0D78B8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DB74FA-BCF5-412C-B474-5CA730E53DF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56456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2C1060-699B-414A-8D16-7630F8BDD05E}" type="datetimeFigureOut">
              <a:rPr lang="en-US" smtClean="0"/>
              <a:t>1/8/2024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ADF348-2A86-4531-BD4E-BD8C0BBDAD47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88769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51245-A7A5-4517-A4C5-F741FAE668F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1301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51245-A7A5-4517-A4C5-F741FAE668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3724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51245-A7A5-4517-A4C5-F741FAE668F7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1452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D51245-A7A5-4517-A4C5-F741FAE668F7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428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947BE1-D586-49AE-B2E6-EE426AA239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7532914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4C316E-D918-422D-AC5F-D93C59AB674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0078" y="627016"/>
            <a:ext cx="6389027" cy="5601790"/>
          </a:xfrm>
        </p:spPr>
        <p:txBody>
          <a:bodyPr>
            <a:noAutofit/>
          </a:bodyPr>
          <a:lstStyle>
            <a:lvl1pPr algn="r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sz="8000" baseline="0"/>
            </a:lvl1pPr>
          </a:lstStyle>
          <a:p>
            <a:r>
              <a:rPr lang="en-US" dirty="0"/>
              <a:t>Click to edit Master TEXT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B4012DC-9879-489B-B525-C474C5DD29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9797" y="627016"/>
            <a:ext cx="3199034" cy="5590903"/>
          </a:xfrm>
        </p:spPr>
        <p:txBody>
          <a:bodyPr anchor="ctr">
            <a:normAutofit/>
          </a:bodyPr>
          <a:lstStyle>
            <a:lvl1pPr>
              <a:defRPr lang="en-US" sz="2600" kern="1200" spc="50" baseline="0" dirty="0" smtClean="0">
                <a:solidFill>
                  <a:schemeClr val="tx1"/>
                </a:solidFill>
                <a:latin typeface="+mn-lt"/>
                <a:ea typeface="+mn-ea"/>
                <a:cs typeface="Calibri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1405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D15A25-1111-478B-8F77-D992652C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2264985"/>
            <a:ext cx="5297764" cy="395218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93472D-332A-4010-9FEA-8E1E9AE7E18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6213" y="336958"/>
            <a:ext cx="10616187" cy="1700784"/>
          </a:xfrm>
        </p:spPr>
        <p:txBody>
          <a:bodyPr/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TEXT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FF791A-8D73-49AD-8569-7F4FE14648E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0120" y="2587752"/>
            <a:ext cx="3694176" cy="3258102"/>
          </a:xfrm>
        </p:spPr>
        <p:txBody>
          <a:bodyPr>
            <a:normAutofit/>
          </a:bodyPr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 master text style</a:t>
            </a:r>
          </a:p>
          <a:p>
            <a:endParaRPr lang="en-US" dirty="0">
              <a:cs typeface="Calibri"/>
            </a:endParaRP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9D1BED5-2D39-40ED-92F5-CF06BE8A759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97764" y="2265363"/>
            <a:ext cx="3479524" cy="3951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BE291-E88A-44C5-884C-183EE7F67E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777288" y="2265363"/>
            <a:ext cx="3414712" cy="3951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99AED-D702-41BF-B21E-9BFB0630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1" y="6356350"/>
            <a:ext cx="3353262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4C4BB-67B0-4BF7-A7D4-4222652E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2C385-1FC3-453C-952E-8DDB1B05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5907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19D4B2-6593-465B-9A8E-03DFC9434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60438" y="317499"/>
            <a:ext cx="4500737" cy="2095501"/>
          </a:xfrm>
        </p:spPr>
        <p:txBody>
          <a:bodyPr>
            <a:noAutofit/>
          </a:bodyPr>
          <a:lstStyle>
            <a:lvl1pPr>
              <a:defRPr sz="5400"/>
            </a:lvl1pPr>
          </a:lstStyle>
          <a:p>
            <a:r>
              <a:rPr lang="en-US" sz="5400" dirty="0"/>
              <a:t>Click to edit master text style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09CC8E-0532-4674-9535-1514DA3C14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60438" y="2587625"/>
            <a:ext cx="4500737" cy="35941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cs typeface="Calibri"/>
              </a:rPr>
              <a:t>Click to edit master text style</a:t>
            </a:r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A468A676-C4AD-4F50-936D-1C858E8136CE}"/>
              </a:ext>
            </a:extLst>
          </p:cNvPr>
          <p:cNvSpPr txBox="1">
            <a:spLocks/>
          </p:cNvSpPr>
          <p:nvPr userDrawn="1"/>
        </p:nvSpPr>
        <p:spPr>
          <a:xfrm>
            <a:off x="960438" y="6356350"/>
            <a:ext cx="498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4474" y="0"/>
            <a:ext cx="3046351" cy="342836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6B54A389-080E-45CE-8275-215B7C9B589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148763" y="0"/>
            <a:ext cx="3048000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25">
            <a:extLst>
              <a:ext uri="{FF2B5EF4-FFF2-40B4-BE49-F238E27FC236}">
                <a16:creationId xmlns:a16="http://schemas.microsoft.com/office/drawing/2014/main" id="{F5006F58-5D95-4392-9D32-BE333EA5493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102350" y="3429000"/>
            <a:ext cx="6076950" cy="3429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173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81E0804-8E9E-4C6E-B18D-44FE715B2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422497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78AA1-17A5-44BF-8791-EACDA31F5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768096"/>
            <a:ext cx="10268712" cy="3136392"/>
          </a:xfrm>
        </p:spPr>
        <p:txBody>
          <a:bodyPr anchor="b">
            <a:normAutofit/>
          </a:bodyPr>
          <a:lstStyle>
            <a:lvl1pPr>
              <a:defRPr sz="7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1203A5-DA79-4778-AB85-150365748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4544568"/>
            <a:ext cx="10268712" cy="1545336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738442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80910-921F-4143-AB01-0F0AFC290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0182FC-5A0B-4C24-A6ED-990ED5BA9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25F1358-C731-465B-BCB1-2CCBFD6EC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236976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6172F4-3DB0-4AE3-8926-081B78034C6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59536-57D3-4C8A-A207-568465A32E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8280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657345" y="0"/>
            <a:ext cx="753465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EE19D4B2-6593-465B-9A8E-03DFC94344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55771" y="1004205"/>
            <a:ext cx="6096000" cy="3725183"/>
          </a:xfrm>
        </p:spPr>
        <p:txBody>
          <a:bodyPr>
            <a:noAutofit/>
          </a:bodyPr>
          <a:lstStyle>
            <a:lvl1pPr>
              <a:defRPr sz="6000"/>
            </a:lvl1pPr>
          </a:lstStyle>
          <a:p>
            <a:r>
              <a:rPr lang="en-US" sz="5400" dirty="0"/>
              <a:t>Click to edit master text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537098-0CB9-40F0-99EE-35DF790670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657345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Footer Placeholder 8">
            <a:extLst>
              <a:ext uri="{FF2B5EF4-FFF2-40B4-BE49-F238E27FC236}">
                <a16:creationId xmlns:a16="http://schemas.microsoft.com/office/drawing/2014/main" id="{A468A676-C4AD-4F50-936D-1C858E8136CE}"/>
              </a:ext>
            </a:extLst>
          </p:cNvPr>
          <p:cNvSpPr txBox="1">
            <a:spLocks/>
          </p:cNvSpPr>
          <p:nvPr userDrawn="1"/>
        </p:nvSpPr>
        <p:spPr>
          <a:xfrm>
            <a:off x="960438" y="6356350"/>
            <a:ext cx="49815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100" kern="1200" cap="all" spc="5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Sample Footer Text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E309CC8E-0532-4674-9535-1514DA3C14B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55771" y="4865914"/>
            <a:ext cx="6096000" cy="532038"/>
          </a:xfrm>
        </p:spPr>
        <p:txBody>
          <a:bodyPr anchor="ctr">
            <a:normAutofit/>
          </a:bodyPr>
          <a:lstStyle>
            <a:lvl1pPr>
              <a:defRPr sz="2800">
                <a:solidFill>
                  <a:schemeClr val="bg1"/>
                </a:solidFill>
              </a:defRPr>
            </a:lvl1pPr>
          </a:lstStyle>
          <a:p>
            <a:r>
              <a:rPr lang="en-US" sz="2000" dirty="0">
                <a:solidFill>
                  <a:schemeClr val="bg1"/>
                </a:solidFill>
                <a:cs typeface="Calibri"/>
              </a:rPr>
              <a:t>Click to edit master text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>
                <a:solidFill>
                  <a:schemeClr val="bg1"/>
                </a:solidFill>
              </a:defRPr>
            </a:lvl1pPr>
          </a:lstStyle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0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C7BA0-DC57-452F-85B7-C979AA6909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91DF4D9E-FD4F-4244-ACD6-44EC4C0494F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66800" y="3048000"/>
            <a:ext cx="1790700" cy="1790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4" name="Picture Placeholder 22">
            <a:extLst>
              <a:ext uri="{FF2B5EF4-FFF2-40B4-BE49-F238E27FC236}">
                <a16:creationId xmlns:a16="http://schemas.microsoft.com/office/drawing/2014/main" id="{44F5B526-8975-4F7C-B558-830FCEE0686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821762" y="3048000"/>
            <a:ext cx="1790700" cy="1790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5" name="Picture Placeholder 22">
            <a:extLst>
              <a:ext uri="{FF2B5EF4-FFF2-40B4-BE49-F238E27FC236}">
                <a16:creationId xmlns:a16="http://schemas.microsoft.com/office/drawing/2014/main" id="{ED20DBB5-D24E-40D6-AFFB-428692A51AD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576021" y="3048000"/>
            <a:ext cx="1790700" cy="1790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6" name="Picture Placeholder 22">
            <a:extLst>
              <a:ext uri="{FF2B5EF4-FFF2-40B4-BE49-F238E27FC236}">
                <a16:creationId xmlns:a16="http://schemas.microsoft.com/office/drawing/2014/main" id="{F6F7262C-3E29-4219-AF83-B7A71B97A13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4500" y="3048000"/>
            <a:ext cx="1790700" cy="17907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3861F78-BD42-4F29-8487-1641CFD0391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66800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FFAB1F8B-1CEE-4068-86DE-561A12A0418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066800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27">
            <a:extLst>
              <a:ext uri="{FF2B5EF4-FFF2-40B4-BE49-F238E27FC236}">
                <a16:creationId xmlns:a16="http://schemas.microsoft.com/office/drawing/2014/main" id="{D5AE44CD-B78E-4EE2-B0F2-E0D436C2BA1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821762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Text Placeholder 27">
            <a:extLst>
              <a:ext uri="{FF2B5EF4-FFF2-40B4-BE49-F238E27FC236}">
                <a16:creationId xmlns:a16="http://schemas.microsoft.com/office/drawing/2014/main" id="{3C4FE2DB-091F-4F7A-B6B6-9A6F22AC0B5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821762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27">
            <a:extLst>
              <a:ext uri="{FF2B5EF4-FFF2-40B4-BE49-F238E27FC236}">
                <a16:creationId xmlns:a16="http://schemas.microsoft.com/office/drawing/2014/main" id="{3A3F9D5D-A5CF-482B-A14C-E5BFADB76F7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576021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27">
            <a:extLst>
              <a:ext uri="{FF2B5EF4-FFF2-40B4-BE49-F238E27FC236}">
                <a16:creationId xmlns:a16="http://schemas.microsoft.com/office/drawing/2014/main" id="{A4F265B4-1FBB-4396-A938-862D45713AE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576021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Text Placeholder 27">
            <a:extLst>
              <a:ext uri="{FF2B5EF4-FFF2-40B4-BE49-F238E27FC236}">
                <a16:creationId xmlns:a16="http://schemas.microsoft.com/office/drawing/2014/main" id="{AC1BA7DC-98B0-4261-8F1E-8101FB5D480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334500" y="5124103"/>
            <a:ext cx="1790700" cy="350292"/>
          </a:xfrm>
        </p:spPr>
        <p:txBody>
          <a:bodyPr>
            <a:normAutofit/>
          </a:bodyPr>
          <a:lstStyle>
            <a:lvl1pPr algn="ctr">
              <a:def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 27">
            <a:extLst>
              <a:ext uri="{FF2B5EF4-FFF2-40B4-BE49-F238E27FC236}">
                <a16:creationId xmlns:a16="http://schemas.microsoft.com/office/drawing/2014/main" id="{2E4EF69E-34E2-46FF-A0FA-3F136396D3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34500" y="5458421"/>
            <a:ext cx="1790700" cy="350292"/>
          </a:xfrm>
        </p:spPr>
        <p:txBody>
          <a:bodyPr>
            <a:noAutofit/>
          </a:bodyPr>
          <a:lstStyle>
            <a:lvl1pPr algn="ctr">
              <a:defRPr lang="en-US" sz="1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E945AB7-1A32-4516-ABF9-B40958AE2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17916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F1C53797-8D72-4774-AC93-EB9FDD650C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22923C3-1D67-4089-A6B1-9A10315E8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4685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4818888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09944" y="2587752"/>
            <a:ext cx="4818888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09944" y="3594538"/>
            <a:ext cx="4818888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0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593407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021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FB62259C-ADDF-4293-AD3B-AB2E04A74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87D32C-166A-4FBE-B24D-C257690954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1" y="2587752"/>
            <a:ext cx="3236976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EC567-F249-462A-B71A-9C40D50E26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60120" y="3594538"/>
            <a:ext cx="3236976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7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B7D2C6-69D1-4DE4-BF68-5FB0623DB9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77512" y="2587752"/>
            <a:ext cx="3236976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367CC7-ED09-4F8D-A39A-C5969D33B9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77512" y="3594538"/>
            <a:ext cx="3236976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7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9054C03E-8FD4-4345-A971-0A2CCF5C4A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994903" y="2587752"/>
            <a:ext cx="3236976" cy="892048"/>
          </a:xfrm>
        </p:spPr>
        <p:txBody>
          <a:bodyPr anchor="ctr"/>
          <a:lstStyle>
            <a:lvl1pPr marL="0" indent="0">
              <a:buNone/>
              <a:defRPr sz="26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56D09A0C-509F-447E-AFB1-5531727D7DF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94903" y="3594538"/>
            <a:ext cx="3236976" cy="2586806"/>
          </a:xfrm>
        </p:spPr>
        <p:txBody>
          <a:bodyPr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1700"/>
            </a:lvl1pPr>
            <a:lvl2pPr>
              <a:defRPr sz="1800"/>
            </a:lvl2pPr>
            <a:lvl3pPr marL="560070" indent="-285750">
              <a:buFont typeface="Arial" panose="020B0604020202020204" pitchFamily="34" charset="0"/>
              <a:buChar char="•"/>
              <a:defRPr sz="1400"/>
            </a:lvl3pPr>
            <a:lvl4pPr>
              <a:defRPr sz="1400"/>
            </a:lvl4pPr>
            <a:lvl5pPr marL="880110" indent="-2857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ACC79DA-A9E4-4E93-93F1-81907A901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17916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5F92A44F-DE98-4FB5-B474-5DCCDD267A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04DFE57-AA80-4ED8-AD77-35CC56F3F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4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D984A150-581C-4608-9034-48767311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DF7571-A130-4054-9513-4BDAC9AE5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830" y="635000"/>
            <a:ext cx="5171770" cy="2039374"/>
          </a:xfrm>
        </p:spPr>
        <p:txBody>
          <a:bodyPr anchor="b">
            <a:noAutofit/>
          </a:bodyPr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sz="6600"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DCA27FA5-F6EE-4784-AC43-76381FC2CD9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61998" y="2911475"/>
            <a:ext cx="4500563" cy="3311525"/>
          </a:xfrm>
        </p:spPr>
        <p:txBody>
          <a:bodyPr>
            <a:normAutofit/>
          </a:bodyPr>
          <a:lstStyle>
            <a:lvl1pPr>
              <a:defRPr lang="en-US" sz="2200" kern="1200" spc="50" baseline="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63FF0-1A91-4698-B12A-112D05373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7094F8F4-63E4-4A00-8F98-09219DA987A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42113" y="639763"/>
            <a:ext cx="2198687" cy="25463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B34D9F00-72E9-433A-9427-8DA07653B25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337675" y="638175"/>
            <a:ext cx="2198688" cy="25463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1AD0C148-B6DB-4D32-B139-403A6AEC3DD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42113" y="3668713"/>
            <a:ext cx="2198687" cy="255428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D9D424B8-9E08-469D-88C8-019306CA382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337675" y="3668713"/>
            <a:ext cx="2198688" cy="254635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0A8DC1-14F6-453B-A724-D6493F063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066D53-44B3-4F04-93FD-9756A6013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925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9D15A25-1111-478B-8F77-D992652C71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90108" y="1225106"/>
            <a:ext cx="8201891" cy="3951807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66A3D1-C594-4520-A142-F0D3F59C5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5193" y="3036762"/>
            <a:ext cx="7136064" cy="1700784"/>
          </a:xfrm>
        </p:spPr>
        <p:txBody>
          <a:bodyPr/>
          <a:lstStyle>
            <a:lvl1pPr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defRPr baseline="0"/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42FBE291-E88A-44C5-884C-183EE7F67EE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-12804" y="1225484"/>
            <a:ext cx="4059934" cy="395180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51FF791A-8D73-49AD-8569-7F4FE14648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47779" y="5355583"/>
            <a:ext cx="2270162" cy="57715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16F6145-A1AE-4CDA-AE26-E8FDEFAAB395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6984437" y="5355583"/>
            <a:ext cx="2270162" cy="57715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FDD02FA-6843-4E54-ACDC-AFEAFB4EFAA9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9421095" y="5355583"/>
            <a:ext cx="2270162" cy="577153"/>
          </a:xfrm>
        </p:spPr>
        <p:txBody>
          <a:bodyPr>
            <a:normAutofit/>
          </a:bodyPr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dirty="0">
                <a:cs typeface="Calibri"/>
              </a:rPr>
              <a:t>Click to edit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99AED-D702-41BF-B21E-9BFB06308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3405051" cy="365125"/>
          </a:xfrm>
        </p:spPr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74C4BB-67B0-4BF7-A7D4-4222652EDB8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77512" y="6356350"/>
            <a:ext cx="3236976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52C385-1FC3-453C-952E-8DDB1B052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2454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D153959-30FA-4987-A094-7243641F474B}"/>
              </a:ext>
            </a:extLst>
          </p:cNvPr>
          <p:cNvSpPr/>
          <p:nvPr/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16229-A6DB-436A-B327-667E80F0A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2B351D-270D-480D-8AF5-6A213ED2B3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60120" y="2587752"/>
            <a:ext cx="10268712" cy="35935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B0E73-3310-4A8F-BB4A-7A6A99121A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903720" y="6356350"/>
            <a:ext cx="323697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just">
              <a:defRPr sz="1200" spc="5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81C4C0-515B-4404-A780-C31E7DFE54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60120" y="6356350"/>
            <a:ext cx="5504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spc="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C30C7-F013-428C-A6F7-A8CCCD14C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96144" y="63563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294A09A9-5501-47C1-A89A-A340965A2BE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9179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73" r:id="rId4"/>
    <p:sldLayoutId id="2147483672" r:id="rId5"/>
    <p:sldLayoutId id="2147483686" r:id="rId6"/>
    <p:sldLayoutId id="2147483687" r:id="rId7"/>
    <p:sldLayoutId id="2147483675" r:id="rId8"/>
    <p:sldLayoutId id="2147483688" r:id="rId9"/>
    <p:sldLayoutId id="2147483682" r:id="rId10"/>
    <p:sldLayoutId id="2147483689" r:id="rId11"/>
  </p:sldLayoutIdLst>
  <mc:AlternateContent xmlns:mc="http://schemas.openxmlformats.org/markup-compatibility/2006" xmlns:p14="http://schemas.microsoft.com/office/powerpoint/2010/main">
    <mc:Choice Requires="p14">
      <p:transition spd="slow">
        <p14:vortex dir="r"/>
      </p:transition>
    </mc:Choice>
    <mc:Fallback xmlns="">
      <p:transition spd="slow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600" kern="1200" cap="all" spc="12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1000"/>
        </a:lnSpc>
        <a:spcBef>
          <a:spcPts val="700"/>
        </a:spcBef>
        <a:spcAft>
          <a:spcPts val="700"/>
        </a:spcAft>
        <a:buFont typeface="Arial" panose="020B0604020202020204" pitchFamily="34" charset="0"/>
        <a:buNone/>
        <a:defRPr sz="2600" kern="1200" spc="50" baseline="0">
          <a:solidFill>
            <a:schemeClr val="tx1"/>
          </a:solidFill>
          <a:latin typeface="+mn-lt"/>
          <a:ea typeface="+mn-ea"/>
          <a:cs typeface="+mn-cs"/>
        </a:defRPr>
      </a:lvl1pPr>
      <a:lvl2pPr marL="27432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2300" kern="1200" spc="50" baseline="0">
          <a:solidFill>
            <a:schemeClr val="tx1"/>
          </a:solidFill>
          <a:latin typeface="+mn-lt"/>
          <a:ea typeface="+mn-ea"/>
          <a:cs typeface="+mn-cs"/>
        </a:defRPr>
      </a:lvl2pPr>
      <a:lvl3pPr marL="27432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27432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ClrTx/>
        <a:buFont typeface="Wingdings" panose="05000000000000000000" pitchFamily="2" charset="2"/>
        <a:buChar char="§"/>
        <a:defRPr sz="1800" kern="1200" spc="50" baseline="0">
          <a:solidFill>
            <a:schemeClr val="tx1"/>
          </a:solidFill>
          <a:latin typeface="+mn-lt"/>
          <a:ea typeface="+mn-ea"/>
          <a:cs typeface="+mn-cs"/>
        </a:defRPr>
      </a:lvl4pPr>
      <a:lvl5pPr marL="594360" indent="0" algn="l" defTabSz="914400" rtl="0" eaLnBrk="1" latinLnBrk="0" hangingPunct="1">
        <a:lnSpc>
          <a:spcPct val="101000"/>
        </a:lnSpc>
        <a:spcBef>
          <a:spcPts val="400"/>
        </a:spcBef>
        <a:spcAft>
          <a:spcPts val="400"/>
        </a:spcAft>
        <a:buFont typeface="Arial" panose="020B0604020202020204" pitchFamily="34" charset="0"/>
        <a:buNone/>
        <a:defRPr sz="1800" b="1" kern="1200" spc="5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240" userDrawn="1">
          <p15:clr>
            <a:srgbClr val="547EBF"/>
          </p15:clr>
        </p15:guide>
        <p15:guide id="4" orient="horz" pos="240" userDrawn="1">
          <p15:clr>
            <a:srgbClr val="547EBF"/>
          </p15:clr>
        </p15:guide>
        <p15:guide id="5" pos="7440" userDrawn="1">
          <p15:clr>
            <a:srgbClr val="547EBF"/>
          </p15:clr>
        </p15:guide>
        <p15:guide id="6" orient="horz" pos="4080" userDrawn="1">
          <p15:clr>
            <a:srgbClr val="547EBF"/>
          </p15:clr>
        </p15:guide>
        <p15:guide id="7" pos="3960" userDrawn="1">
          <p15:clr>
            <a:srgbClr val="547EBF"/>
          </p15:clr>
        </p15:guide>
        <p15:guide id="8" pos="3720" userDrawn="1">
          <p15:clr>
            <a:srgbClr val="547EBF"/>
          </p15:clr>
        </p15:guide>
        <p15:guide id="9" pos="2112" userDrawn="1">
          <p15:clr>
            <a:srgbClr val="547EBF"/>
          </p15:clr>
        </p15:guide>
        <p15:guide id="10" pos="1848" userDrawn="1">
          <p15:clr>
            <a:srgbClr val="547EBF"/>
          </p15:clr>
        </p15:guide>
        <p15:guide id="11" pos="5568" userDrawn="1">
          <p15:clr>
            <a:srgbClr val="547EBF"/>
          </p15:clr>
        </p15:guide>
        <p15:guide id="12" pos="5832" userDrawn="1">
          <p15:clr>
            <a:srgbClr val="547EBF"/>
          </p15:clr>
        </p15:guide>
        <p15:guide id="13" pos="4968" userDrawn="1">
          <p15:clr>
            <a:srgbClr val="9FCC3B"/>
          </p15:clr>
        </p15:guide>
        <p15:guide id="14" pos="5208" userDrawn="1">
          <p15:clr>
            <a:srgbClr val="9FCC3B"/>
          </p15:clr>
        </p15:guide>
        <p15:guide id="15" pos="2712" userDrawn="1">
          <p15:clr>
            <a:srgbClr val="9FCC3B"/>
          </p15:clr>
        </p15:guide>
        <p15:guide id="16" pos="2472" userDrawn="1">
          <p15:clr>
            <a:srgbClr val="9FCC3B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9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>
            <a:extLst>
              <a:ext uri="{FF2B5EF4-FFF2-40B4-BE49-F238E27FC236}">
                <a16:creationId xmlns:a16="http://schemas.microsoft.com/office/drawing/2014/main" id="{E8C4EFE6-2069-473C-9C7D-664E02AC6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627016"/>
            <a:ext cx="6389027" cy="5601790"/>
          </a:xfrm>
        </p:spPr>
        <p:txBody>
          <a:bodyPr/>
          <a:lstStyle/>
          <a:p>
            <a:pPr algn="l"/>
            <a:r>
              <a:rPr lang="en-GB" sz="4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Optimal sizing of supercapacitors </a:t>
            </a:r>
            <a:br>
              <a:rPr lang="en-GB" sz="4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r>
              <a:rPr lang="en-GB" sz="44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for HEV’s</a:t>
            </a:r>
            <a:br>
              <a:rPr lang="en-IN" sz="360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309D09-2937-4053-9CD6-3131EABB071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867290" y="5832854"/>
            <a:ext cx="4189676" cy="791904"/>
          </a:xfrm>
        </p:spPr>
        <p:txBody>
          <a:bodyPr>
            <a:normAutofit/>
          </a:bodyPr>
          <a:lstStyle/>
          <a:p>
            <a:r>
              <a:rPr lang="en-US" sz="2400" dirty="0"/>
              <a:t>Supervisor: Christos Kalyvas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6C267E7-97C6-5CF6-4DDE-1FA97A25C5F2}"/>
              </a:ext>
            </a:extLst>
          </p:cNvPr>
          <p:cNvSpPr txBox="1"/>
          <p:nvPr/>
        </p:nvSpPr>
        <p:spPr>
          <a:xfrm>
            <a:off x="4324711" y="5832854"/>
            <a:ext cx="33297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Sai Gopal Addagarala</a:t>
            </a:r>
          </a:p>
          <a:p>
            <a:r>
              <a:rPr lang="en-US" sz="2400" dirty="0">
                <a:solidFill>
                  <a:schemeClr val="bg1"/>
                </a:solidFill>
              </a:rPr>
              <a:t>21060080</a:t>
            </a:r>
          </a:p>
        </p:txBody>
      </p:sp>
    </p:spTree>
    <p:extLst>
      <p:ext uri="{BB962C8B-B14F-4D97-AF65-F5344CB8AC3E}">
        <p14:creationId xmlns:p14="http://schemas.microsoft.com/office/powerpoint/2010/main" val="2259308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14:vortex dir="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5B42B6-26F8-4E25-839B-FB38F13BE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16D8A-2E12-4C9A-8001-077CF283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introduction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6B49B5-2CFF-DF4A-188A-50435A08CE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50122" y="2902072"/>
            <a:ext cx="4948878" cy="345427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69D5268B-B9FF-4EF5-90FE-EC2BBE068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4476" y="2336412"/>
            <a:ext cx="5647401" cy="42037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IN" sz="3600" b="1" i="0" u="none" strike="noStrike" baseline="0" dirty="0">
                <a:solidFill>
                  <a:schemeClr val="tx1"/>
                </a:solidFill>
              </a:rPr>
              <a:t>WHY SUPERCAPACITORS?</a:t>
            </a:r>
            <a:endParaRPr lang="en-IN" sz="1800" b="1" i="0" u="none" strike="noStrike" baseline="0" dirty="0">
              <a:solidFill>
                <a:schemeClr val="tx1"/>
              </a:solidFill>
            </a:endParaRP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i="0" u="none" strike="noStrike" baseline="0" dirty="0">
                <a:solidFill>
                  <a:schemeClr val="tx1"/>
                </a:solidFill>
              </a:rPr>
              <a:t>Discharge or charge faster than batteries.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US" sz="1800" b="1" i="0" u="none" strike="noStrike" baseline="0" dirty="0">
                <a:solidFill>
                  <a:schemeClr val="tx1"/>
                </a:solidFill>
              </a:rPr>
              <a:t>They also offer 10 to 100 times the energy density (Wh/Kg) </a:t>
            </a:r>
            <a:r>
              <a:rPr lang="en-IN" sz="1800" b="1" i="0" u="none" strike="noStrike" baseline="0" dirty="0">
                <a:solidFill>
                  <a:schemeClr val="tx1"/>
                </a:solidFill>
              </a:rPr>
              <a:t>of conventional capacitors.</a:t>
            </a:r>
          </a:p>
          <a:p>
            <a:pPr marL="285750" indent="-285750" algn="l">
              <a:buFont typeface="Wingdings" panose="05000000000000000000" pitchFamily="2" charset="2"/>
              <a:buChar char="Ø"/>
            </a:pPr>
            <a:r>
              <a:rPr lang="en-IN" sz="1800" b="1" dirty="0">
                <a:solidFill>
                  <a:schemeClr val="tx1"/>
                </a:solidFill>
              </a:rPr>
              <a:t>Can deliver </a:t>
            </a:r>
            <a:r>
              <a:rPr lang="en-US" sz="1800" b="1" i="0" u="none" strike="noStrike" baseline="0" dirty="0">
                <a:solidFill>
                  <a:schemeClr val="tx1"/>
                </a:solidFill>
              </a:rPr>
              <a:t>10-20 times more power typically have 10 times the specific power (W/kg) as well as a much lower charge time when compared to lead acid batteries.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A2AA5F-AC43-49A7-AA8B-D75C87AB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15A2AD-07CF-5AE5-B2AE-DE66A113FD08}"/>
              </a:ext>
            </a:extLst>
          </p:cNvPr>
          <p:cNvSpPr txBox="1"/>
          <p:nvPr/>
        </p:nvSpPr>
        <p:spPr>
          <a:xfrm>
            <a:off x="573561" y="6359165"/>
            <a:ext cx="49488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b="1" dirty="0" err="1">
                <a:effectLst/>
                <a:ea typeface="Times New Roman" panose="02020603050405020304" pitchFamily="18" charset="0"/>
              </a:rPr>
              <a:t>Ragone</a:t>
            </a:r>
            <a:r>
              <a:rPr lang="en-GB" sz="1400" b="1" dirty="0">
                <a:effectLst/>
                <a:ea typeface="Times New Roman" panose="02020603050405020304" pitchFamily="18" charset="0"/>
              </a:rPr>
              <a:t> plot of the energy storage domains</a:t>
            </a:r>
            <a:r>
              <a:rPr lang="en-IN" sz="1400" b="1" dirty="0"/>
              <a:t>[1]</a:t>
            </a:r>
          </a:p>
        </p:txBody>
      </p:sp>
    </p:spTree>
    <p:extLst>
      <p:ext uri="{BB962C8B-B14F-4D97-AF65-F5344CB8AC3E}">
        <p14:creationId xmlns:p14="http://schemas.microsoft.com/office/powerpoint/2010/main" val="19261739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Rectangle 58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1" name="Rectangle 60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904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3" name="Rectangle 62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77F89CE-BF52-4AF5-8B0B-7E969373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itle 53">
            <a:extLst>
              <a:ext uri="{FF2B5EF4-FFF2-40B4-BE49-F238E27FC236}">
                <a16:creationId xmlns:a16="http://schemas.microsoft.com/office/drawing/2014/main" id="{742A82AB-F005-49A7-9C16-0AF17C1E9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8" y="0"/>
            <a:ext cx="4500737" cy="219456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en-US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Aim</a:t>
            </a:r>
          </a:p>
        </p:txBody>
      </p:sp>
      <p:sp>
        <p:nvSpPr>
          <p:cNvPr id="29" name="Content Placeholder 28">
            <a:extLst>
              <a:ext uri="{FF2B5EF4-FFF2-40B4-BE49-F238E27FC236}">
                <a16:creationId xmlns:a16="http://schemas.microsoft.com/office/drawing/2014/main" id="{72142BC0-18E5-42CE-A02F-AC348DDCE4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112" y="1912959"/>
            <a:ext cx="5828551" cy="340091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91000"/>
              </a:lnSpc>
            </a:pPr>
            <a:r>
              <a:rPr lang="en-US" sz="2400" dirty="0">
                <a:effectLst/>
              </a:rPr>
              <a:t>To model optimized </a:t>
            </a:r>
            <a:r>
              <a:rPr lang="en-US" sz="2400" dirty="0"/>
              <a:t>supercapacitor bank for hybrid electrical vehicle.</a:t>
            </a:r>
          </a:p>
        </p:txBody>
      </p:sp>
      <p:sp>
        <p:nvSpPr>
          <p:cNvPr id="7" name="Footer Placeholder 8">
            <a:extLst>
              <a:ext uri="{FF2B5EF4-FFF2-40B4-BE49-F238E27FC236}">
                <a16:creationId xmlns:a16="http://schemas.microsoft.com/office/drawing/2014/main" id="{EA683B60-B65C-41B7-A2DD-F978D1E9E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010430" y="5920796"/>
            <a:ext cx="232391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spcAft>
                <a:spcPts val="600"/>
              </a:spcAft>
            </a:pPr>
            <a:r>
              <a:rPr lang="en-US" sz="1000" b="1" cap="none" dirty="0">
                <a:solidFill>
                  <a:schemeClr val="bg1"/>
                </a:solidFill>
                <a:cs typeface="Arial" panose="020B0604020202020204" pitchFamily="34" charset="0"/>
              </a:rPr>
              <a:t>Parallel hybrid architecture [2] </a:t>
            </a:r>
            <a:endParaRPr lang="en-US" sz="1000" b="1" kern="1200" cap="none" spc="50" baseline="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BF7A0-D7E3-3BCF-01E9-8CB1376EDA9D}"/>
              </a:ext>
            </a:extLst>
          </p:cNvPr>
          <p:cNvSpPr txBox="1"/>
          <p:nvPr/>
        </p:nvSpPr>
        <p:spPr>
          <a:xfrm>
            <a:off x="6189380" y="1912959"/>
            <a:ext cx="6094562" cy="4573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1000"/>
              </a:lnSpc>
            </a:pPr>
            <a:r>
              <a:rPr lang="en-US" sz="2000" dirty="0" err="1">
                <a:solidFill>
                  <a:srgbClr val="C00000"/>
                </a:solidFill>
                <a:effectLst/>
              </a:rPr>
              <a:t>i</a:t>
            </a:r>
            <a:r>
              <a:rPr lang="en-US" sz="2000" dirty="0">
                <a:solidFill>
                  <a:srgbClr val="C00000"/>
                </a:solidFill>
                <a:effectLst/>
              </a:rPr>
              <a:t>.</a:t>
            </a:r>
            <a:r>
              <a:rPr lang="en-US" sz="2000" dirty="0">
                <a:solidFill>
                  <a:schemeClr val="tx1"/>
                </a:solidFill>
                <a:effectLst/>
              </a:rPr>
              <a:t> To investigate and model the characteristics of supercapacitors, with non-ideal equivalent circuit model for supercapacitor bank under constant power demand.</a:t>
            </a:r>
          </a:p>
          <a:p>
            <a:pPr>
              <a:lnSpc>
                <a:spcPct val="91000"/>
              </a:lnSpc>
            </a:pPr>
            <a:endParaRPr lang="en-US" sz="2000" dirty="0">
              <a:solidFill>
                <a:schemeClr val="tx1"/>
              </a:solidFill>
              <a:effectLst/>
            </a:endParaRPr>
          </a:p>
          <a:p>
            <a:pPr>
              <a:lnSpc>
                <a:spcPct val="91000"/>
              </a:lnSpc>
            </a:pPr>
            <a:r>
              <a:rPr lang="en-US" sz="2000" dirty="0">
                <a:solidFill>
                  <a:srgbClr val="C00000"/>
                </a:solidFill>
              </a:rPr>
              <a:t>ii. </a:t>
            </a:r>
            <a:r>
              <a:rPr lang="en-US" sz="2000" dirty="0"/>
              <a:t>E</a:t>
            </a:r>
            <a:r>
              <a:rPr lang="en-US" sz="2000" dirty="0">
                <a:solidFill>
                  <a:schemeClr val="tx1"/>
                </a:solidFill>
                <a:effectLst/>
              </a:rPr>
              <a:t>mploy numerical iterative method to determine number of cells are required for non-ideal  supercapacitor model.</a:t>
            </a:r>
          </a:p>
          <a:p>
            <a:pPr>
              <a:lnSpc>
                <a:spcPct val="91000"/>
              </a:lnSpc>
            </a:pPr>
            <a:endParaRPr lang="en-US" sz="2000" dirty="0">
              <a:solidFill>
                <a:schemeClr val="tx1"/>
              </a:solidFill>
              <a:effectLst/>
            </a:endParaRPr>
          </a:p>
          <a:p>
            <a:pPr>
              <a:lnSpc>
                <a:spcPct val="91000"/>
              </a:lnSpc>
            </a:pPr>
            <a:r>
              <a:rPr lang="en-US" sz="2000" dirty="0">
                <a:solidFill>
                  <a:srgbClr val="C00000"/>
                </a:solidFill>
              </a:rPr>
              <a:t>iii. </a:t>
            </a:r>
            <a:r>
              <a:rPr lang="en-US" sz="2000" dirty="0"/>
              <a:t>E</a:t>
            </a:r>
            <a:r>
              <a:rPr lang="en-US" sz="2000" dirty="0">
                <a:solidFill>
                  <a:schemeClr val="tx1"/>
                </a:solidFill>
                <a:effectLst/>
              </a:rPr>
              <a:t>nhance initial model by incorporating a branch term to account for leakage effects.</a:t>
            </a:r>
          </a:p>
          <a:p>
            <a:pPr>
              <a:lnSpc>
                <a:spcPct val="91000"/>
              </a:lnSpc>
            </a:pPr>
            <a:endParaRPr lang="en-US" sz="2000" dirty="0">
              <a:solidFill>
                <a:schemeClr val="tx1"/>
              </a:solidFill>
              <a:effectLst/>
            </a:endParaRPr>
          </a:p>
          <a:p>
            <a:pPr>
              <a:lnSpc>
                <a:spcPct val="91000"/>
              </a:lnSpc>
            </a:pPr>
            <a:r>
              <a:rPr lang="en-US" sz="2000" dirty="0">
                <a:solidFill>
                  <a:srgbClr val="C00000"/>
                </a:solidFill>
              </a:rPr>
              <a:t>iv.</a:t>
            </a:r>
            <a:r>
              <a:rPr lang="en-US" sz="2000" dirty="0"/>
              <a:t> Compare with MATLAB script code with numerical     results</a:t>
            </a:r>
          </a:p>
          <a:p>
            <a:pPr>
              <a:lnSpc>
                <a:spcPct val="91000"/>
              </a:lnSpc>
            </a:pPr>
            <a:endParaRPr lang="en-US" sz="2000" dirty="0">
              <a:solidFill>
                <a:schemeClr val="tx1"/>
              </a:solidFill>
            </a:endParaRPr>
          </a:p>
          <a:p>
            <a:pPr>
              <a:lnSpc>
                <a:spcPct val="91000"/>
              </a:lnSpc>
            </a:pPr>
            <a:r>
              <a:rPr lang="en-US" sz="2000" dirty="0">
                <a:solidFill>
                  <a:srgbClr val="C00000"/>
                </a:solidFill>
              </a:rPr>
              <a:t> v. </a:t>
            </a:r>
            <a:r>
              <a:rPr lang="en-US" sz="2000" dirty="0"/>
              <a:t>Validate with experimental data.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4" name="Title 53">
            <a:extLst>
              <a:ext uri="{FF2B5EF4-FFF2-40B4-BE49-F238E27FC236}">
                <a16:creationId xmlns:a16="http://schemas.microsoft.com/office/drawing/2014/main" id="{9D6EA70D-56ED-EF55-4A2C-79EF4F3FA4C8}"/>
              </a:ext>
            </a:extLst>
          </p:cNvPr>
          <p:cNvSpPr txBox="1">
            <a:spLocks/>
          </p:cNvSpPr>
          <p:nvPr/>
        </p:nvSpPr>
        <p:spPr>
          <a:xfrm>
            <a:off x="6728095" y="35214"/>
            <a:ext cx="4500737" cy="21945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101000"/>
              </a:lnSpc>
              <a:spcBef>
                <a:spcPts val="700"/>
              </a:spcBef>
              <a:spcAft>
                <a:spcPts val="700"/>
              </a:spcAft>
              <a:buNone/>
              <a:defRPr sz="6600" kern="1200" cap="all" spc="12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dirty="0"/>
              <a:t>Objectives</a:t>
            </a:r>
          </a:p>
        </p:txBody>
      </p:sp>
      <p:pic>
        <p:nvPicPr>
          <p:cNvPr id="5" name="Graphic 4" descr="Disconnected">
            <a:extLst>
              <a:ext uri="{FF2B5EF4-FFF2-40B4-BE49-F238E27FC236}">
                <a16:creationId xmlns:a16="http://schemas.microsoft.com/office/drawing/2014/main" id="{080EE3BF-7013-E5AE-5E53-845370AC15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5051976" y="223017"/>
            <a:ext cx="2077186" cy="2077186"/>
          </a:xfrm>
          <a:prstGeom prst="rect">
            <a:avLst/>
          </a:prstGeom>
        </p:spPr>
      </p:pic>
      <p:pic>
        <p:nvPicPr>
          <p:cNvPr id="6" name="Picture 5" descr="A diagram of a car sharing system&#10;&#10;Description automatically generated">
            <a:extLst>
              <a:ext uri="{FF2B5EF4-FFF2-40B4-BE49-F238E27FC236}">
                <a16:creationId xmlns:a16="http://schemas.microsoft.com/office/drawing/2014/main" id="{E62013D4-C15B-3F66-D88A-C3032BC5F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472" y="3237037"/>
            <a:ext cx="5024684" cy="26434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2" name="Slide Number Placeholder 9">
            <a:extLst>
              <a:ext uri="{FF2B5EF4-FFF2-40B4-BE49-F238E27FC236}">
                <a16:creationId xmlns:a16="http://schemas.microsoft.com/office/drawing/2014/main" id="{CBEBD6D9-3D57-A8AB-27A0-4251FDC608BA}"/>
              </a:ext>
            </a:extLst>
          </p:cNvPr>
          <p:cNvSpPr txBox="1">
            <a:spLocks/>
          </p:cNvSpPr>
          <p:nvPr/>
        </p:nvSpPr>
        <p:spPr>
          <a:xfrm>
            <a:off x="10448544" y="6508750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7E8200-1950-409B-82E7-99938E7AE355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3787646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6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245B42B6-26F8-4E25-839B-FB38F13BE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16D8A-2E12-4C9A-8001-077CF283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Factors to consider SC's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69D5268B-B9FF-4EF5-90FE-EC2BBE068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2264989"/>
            <a:ext cx="5869303" cy="4456485"/>
          </a:xfrm>
        </p:spPr>
        <p:txBody>
          <a:bodyPr vert="horz" lIns="91440" tIns="45720" rIns="91440" bIns="45720" rtlCol="0">
            <a:normAutofit fontScale="92500" lnSpcReduction="10000"/>
          </a:bodyPr>
          <a:lstStyle/>
          <a:p>
            <a:pPr algn="l"/>
            <a:r>
              <a:rPr lang="en-IN" sz="2400" b="0" i="0" u="none" strike="noStrike" baseline="0" dirty="0">
                <a:solidFill>
                  <a:schemeClr val="tx1"/>
                </a:solidFill>
                <a:latin typeface="+mj-lt"/>
              </a:rPr>
              <a:t>• Peak capacitor voltage,</a:t>
            </a:r>
          </a:p>
          <a:p>
            <a:pPr algn="l"/>
            <a:r>
              <a:rPr lang="en-IN" sz="2400" b="0" i="0" u="none" strike="noStrike" baseline="0" dirty="0">
                <a:solidFill>
                  <a:schemeClr val="tx1"/>
                </a:solidFill>
                <a:latin typeface="+mj-lt"/>
              </a:rPr>
              <a:t>• Allowable maximum percentage discharge,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• Peak current flowing through the capacitor,</a:t>
            </a:r>
          </a:p>
          <a:p>
            <a:pPr algn="l"/>
            <a:r>
              <a:rPr lang="en-IN" sz="2400" b="0" i="0" u="none" strike="noStrike" baseline="0" dirty="0">
                <a:solidFill>
                  <a:schemeClr val="tx1"/>
                </a:solidFill>
                <a:latin typeface="+mj-lt"/>
              </a:rPr>
              <a:t>• Capacitor time constant (</a:t>
            </a:r>
            <a:r>
              <a:rPr lang="el-GR" sz="2400" b="0" i="0" u="none" strike="noStrike" baseline="0" dirty="0">
                <a:solidFill>
                  <a:schemeClr val="tx1"/>
                </a:solidFill>
                <a:latin typeface="+mj-lt"/>
              </a:rPr>
              <a:t>τ),</a:t>
            </a:r>
          </a:p>
          <a:p>
            <a:pPr algn="l"/>
            <a:r>
              <a:rPr lang="en-IN" sz="2400" b="0" i="0" u="none" strike="noStrike" baseline="0" dirty="0">
                <a:solidFill>
                  <a:schemeClr val="tx1"/>
                </a:solidFill>
                <a:latin typeface="+mj-lt"/>
              </a:rPr>
              <a:t>• Capacitance per cell,</a:t>
            </a:r>
          </a:p>
          <a:p>
            <a:pPr algn="l"/>
            <a:r>
              <a:rPr lang="en-IN" sz="2400" b="0" i="0" u="none" strike="noStrike" baseline="0" dirty="0">
                <a:solidFill>
                  <a:schemeClr val="tx1"/>
                </a:solidFill>
                <a:latin typeface="+mj-lt"/>
              </a:rPr>
              <a:t>• Cell voltage,</a:t>
            </a:r>
          </a:p>
          <a:p>
            <a:pPr algn="l"/>
            <a:r>
              <a:rPr lang="en-IN" sz="2400" b="0" i="0" u="none" strike="noStrike" baseline="0" dirty="0">
                <a:solidFill>
                  <a:schemeClr val="tx1"/>
                </a:solidFill>
                <a:latin typeface="+mj-lt"/>
              </a:rPr>
              <a:t>• Number of cells needed,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• Mass of the cell,</a:t>
            </a:r>
          </a:p>
          <a:p>
            <a:pPr algn="l"/>
            <a:r>
              <a:rPr lang="en-US" sz="2400" b="0" i="0" u="none" strike="noStrike" baseline="0" dirty="0">
                <a:solidFill>
                  <a:schemeClr val="tx1"/>
                </a:solidFill>
                <a:latin typeface="+mj-lt"/>
              </a:rPr>
              <a:t>• Cost of the cell.</a:t>
            </a:r>
            <a:endParaRPr lang="en-US" sz="2800" b="0" i="0" u="none" strike="noStrike" dirty="0">
              <a:solidFill>
                <a:schemeClr val="tx1"/>
              </a:solidFill>
              <a:latin typeface="+mj-lt"/>
            </a:endParaRPr>
          </a:p>
        </p:txBody>
      </p:sp>
      <p:pic>
        <p:nvPicPr>
          <p:cNvPr id="12" name="Picture 11" descr="A close-up of a battery&#10;&#10;Description automatically generated">
            <a:extLst>
              <a:ext uri="{FF2B5EF4-FFF2-40B4-BE49-F238E27FC236}">
                <a16:creationId xmlns:a16="http://schemas.microsoft.com/office/drawing/2014/main" id="{0EE5C287-528A-4880-093B-938CAAF334C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446" t="-39912" r="2631" b="-39912"/>
          <a:stretch/>
        </p:blipFill>
        <p:spPr>
          <a:xfrm>
            <a:off x="7270285" y="2264989"/>
            <a:ext cx="4654296" cy="4593011"/>
          </a:xfrm>
          <a:prstGeom prst="rect">
            <a:avLst/>
          </a:prstGeom>
        </p:spPr>
      </p:pic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A2AA5F-AC43-49A7-AA8B-D75C87AB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4</a:t>
            </a:fld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lide Number Placeholder 9">
            <a:extLst>
              <a:ext uri="{FF2B5EF4-FFF2-40B4-BE49-F238E27FC236}">
                <a16:creationId xmlns:a16="http://schemas.microsoft.com/office/drawing/2014/main" id="{4D9DB957-334F-385A-2495-7676D4A58188}"/>
              </a:ext>
            </a:extLst>
          </p:cNvPr>
          <p:cNvSpPr txBox="1">
            <a:spLocks/>
          </p:cNvSpPr>
          <p:nvPr/>
        </p:nvSpPr>
        <p:spPr>
          <a:xfrm>
            <a:off x="10644019" y="6277919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7E8200-1950-409B-82E7-99938E7AE35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67B27E-0F57-F6E7-E002-88AB73BBB9A1}"/>
              </a:ext>
            </a:extLst>
          </p:cNvPr>
          <p:cNvSpPr txBox="1"/>
          <p:nvPr/>
        </p:nvSpPr>
        <p:spPr>
          <a:xfrm>
            <a:off x="7806906" y="5900468"/>
            <a:ext cx="35454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200" b="1" dirty="0">
                <a:effectLst/>
                <a:ea typeface="Times New Roman" panose="02020603050405020304" pitchFamily="18" charset="0"/>
              </a:rPr>
              <a:t>Maxwell 2700F, 2.5V SC [3]</a:t>
            </a:r>
            <a:endParaRPr lang="en-IN" sz="1200" b="1" dirty="0"/>
          </a:p>
        </p:txBody>
      </p:sp>
    </p:spTree>
    <p:extLst>
      <p:ext uri="{BB962C8B-B14F-4D97-AF65-F5344CB8AC3E}">
        <p14:creationId xmlns:p14="http://schemas.microsoft.com/office/powerpoint/2010/main" val="3814409960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73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6" name="Rectangle 75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245B42B6-26F8-4E25-839B-FB38F13BEF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346" cy="2624323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716D8A-2E12-4C9A-8001-077CF2830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437" y="348874"/>
            <a:ext cx="6572691" cy="19265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kern="1200" cap="all" spc="120" baseline="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methodology</a:t>
            </a:r>
          </a:p>
        </p:txBody>
      </p:sp>
      <p:sp>
        <p:nvSpPr>
          <p:cNvPr id="42" name="Content Placeholder 41">
            <a:extLst>
              <a:ext uri="{FF2B5EF4-FFF2-40B4-BE49-F238E27FC236}">
                <a16:creationId xmlns:a16="http://schemas.microsoft.com/office/drawing/2014/main" id="{69D5268B-B9FF-4EF5-90FE-EC2BBE0681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120" y="3002507"/>
            <a:ext cx="6573011" cy="317921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A2AA5F-AC43-49A7-AA8B-D75C87AB0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5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51CDEB6-B021-42C9-09F9-9690785CD788}"/>
              </a:ext>
            </a:extLst>
          </p:cNvPr>
          <p:cNvGrpSpPr/>
          <p:nvPr/>
        </p:nvGrpSpPr>
        <p:grpSpPr>
          <a:xfrm>
            <a:off x="7979752" y="4082050"/>
            <a:ext cx="3773764" cy="2647501"/>
            <a:chOff x="8128346" y="3888163"/>
            <a:chExt cx="3773764" cy="2647501"/>
          </a:xfrm>
        </p:grpSpPr>
        <p:pic>
          <p:nvPicPr>
            <p:cNvPr id="6" name="Picture 5" descr="A diagram of a circuit&#10;&#10;Description automatically generated">
              <a:extLst>
                <a:ext uri="{FF2B5EF4-FFF2-40B4-BE49-F238E27FC236}">
                  <a16:creationId xmlns:a16="http://schemas.microsoft.com/office/drawing/2014/main" id="{A03ABBF2-A346-D724-5F95-C2BDD421356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03" r="23621" b="-3"/>
            <a:stretch/>
          </p:blipFill>
          <p:spPr>
            <a:xfrm>
              <a:off x="8447114" y="3968839"/>
              <a:ext cx="3454996" cy="2231241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DEC57CE-D9A0-74CE-5489-1281B08FCC23}"/>
                </a:ext>
              </a:extLst>
            </p:cNvPr>
            <p:cNvSpPr txBox="1"/>
            <p:nvPr/>
          </p:nvSpPr>
          <p:spPr>
            <a:xfrm rot="16200000">
              <a:off x="7258047" y="4758462"/>
              <a:ext cx="2002276" cy="26167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sz="1400" dirty="0"/>
                <a:t>Supercapacitor Bank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2FD6BFA-743E-3AB5-870E-82764646FDD7}"/>
                </a:ext>
              </a:extLst>
            </p:cNvPr>
            <p:cNvSpPr/>
            <p:nvPr/>
          </p:nvSpPr>
          <p:spPr>
            <a:xfrm>
              <a:off x="8491726" y="4208550"/>
              <a:ext cx="2474917" cy="1751819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BAF6BAE-06D4-8FC3-2372-4B3E6F9F48CC}"/>
                </a:ext>
              </a:extLst>
            </p:cNvPr>
            <p:cNvSpPr txBox="1"/>
            <p:nvPr/>
          </p:nvSpPr>
          <p:spPr>
            <a:xfrm>
              <a:off x="9272940" y="6166332"/>
              <a:ext cx="2413000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Two branch ECM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5149188-E76E-4A0E-7E2C-EAE5E07F0B95}"/>
              </a:ext>
            </a:extLst>
          </p:cNvPr>
          <p:cNvGrpSpPr/>
          <p:nvPr/>
        </p:nvGrpSpPr>
        <p:grpSpPr>
          <a:xfrm>
            <a:off x="8232772" y="1569647"/>
            <a:ext cx="3837040" cy="2605446"/>
            <a:chOff x="8231315" y="939566"/>
            <a:chExt cx="3837040" cy="260544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C3563B2-2D18-5F94-7727-11FC6C89F7C0}"/>
                </a:ext>
              </a:extLst>
            </p:cNvPr>
            <p:cNvSpPr txBox="1"/>
            <p:nvPr/>
          </p:nvSpPr>
          <p:spPr>
            <a:xfrm>
              <a:off x="8881928" y="3175680"/>
              <a:ext cx="2838091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Non-Ideal ECM</a:t>
              </a:r>
            </a:p>
          </p:txBody>
        </p:sp>
        <p:pic>
          <p:nvPicPr>
            <p:cNvPr id="7" name="Picture 6" descr="A diagram of electrical wiring&#10;&#10;Description automatically generated">
              <a:extLst>
                <a:ext uri="{FF2B5EF4-FFF2-40B4-BE49-F238E27FC236}">
                  <a16:creationId xmlns:a16="http://schemas.microsoft.com/office/drawing/2014/main" id="{C514E54C-3B81-2606-79C8-9FED04CCB44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10" b="-3"/>
            <a:stretch/>
          </p:blipFill>
          <p:spPr>
            <a:xfrm>
              <a:off x="8231315" y="939566"/>
              <a:ext cx="3837040" cy="2171668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D8340309-54DA-07C4-BD36-A1AC8D67DBA0}"/>
              </a:ext>
            </a:extLst>
          </p:cNvPr>
          <p:cNvSpPr txBox="1"/>
          <p:nvPr/>
        </p:nvSpPr>
        <p:spPr>
          <a:xfrm>
            <a:off x="107676" y="2708197"/>
            <a:ext cx="5904096" cy="40132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lnSpc>
                <a:spcPct val="91000"/>
              </a:lnSpc>
              <a:buFont typeface="Symbol" panose="05050102010706020507" pitchFamily="18" charset="2"/>
              <a:buChar char=""/>
            </a:pPr>
            <a:r>
              <a:rPr lang="en-US" sz="2800" dirty="0">
                <a:solidFill>
                  <a:schemeClr val="tx1"/>
                </a:solidFill>
                <a:effectLst/>
              </a:rPr>
              <a:t>Non-ideal model development</a:t>
            </a:r>
          </a:p>
          <a:p>
            <a:pPr marL="342900" lvl="0" indent="-342900">
              <a:lnSpc>
                <a:spcPct val="91000"/>
              </a:lnSpc>
              <a:buFont typeface="Symbol" panose="05050102010706020507" pitchFamily="18" charset="2"/>
              <a:buChar char=""/>
            </a:pPr>
            <a:r>
              <a:rPr lang="en-US" sz="2800" dirty="0"/>
              <a:t>Numerical analysis</a:t>
            </a:r>
          </a:p>
          <a:p>
            <a:pPr marL="342900" lvl="0" indent="-342900">
              <a:lnSpc>
                <a:spcPct val="91000"/>
              </a:lnSpc>
              <a:buFont typeface="Symbol" panose="05050102010706020507" pitchFamily="18" charset="2"/>
              <a:buChar char=""/>
            </a:pPr>
            <a:r>
              <a:rPr lang="en-US" sz="2800" dirty="0"/>
              <a:t>Script code development of non-ideal model to compare with numerical results</a:t>
            </a:r>
            <a:endParaRPr lang="en-US" sz="2800" dirty="0">
              <a:solidFill>
                <a:schemeClr val="tx1"/>
              </a:solidFill>
              <a:effectLst/>
            </a:endParaRPr>
          </a:p>
          <a:p>
            <a:pPr marL="342900" lvl="0" indent="-342900">
              <a:lnSpc>
                <a:spcPct val="91000"/>
              </a:lnSpc>
              <a:buFont typeface="Symbol" panose="05050102010706020507" pitchFamily="18" charset="2"/>
              <a:buChar char=""/>
            </a:pPr>
            <a:r>
              <a:rPr lang="en-US" sz="2800" dirty="0"/>
              <a:t>Two branch model development</a:t>
            </a:r>
          </a:p>
          <a:p>
            <a:pPr marL="342900" lvl="0" indent="-342900">
              <a:lnSpc>
                <a:spcPct val="91000"/>
              </a:lnSpc>
              <a:buFont typeface="Symbol" panose="05050102010706020507" pitchFamily="18" charset="2"/>
              <a:buChar char=""/>
            </a:pPr>
            <a:r>
              <a:rPr lang="en-US" sz="2800" dirty="0"/>
              <a:t>Obtaining experimental data </a:t>
            </a:r>
          </a:p>
          <a:p>
            <a:pPr lvl="0">
              <a:lnSpc>
                <a:spcPct val="91000"/>
              </a:lnSpc>
            </a:pPr>
            <a:r>
              <a:rPr lang="en-US" sz="2800" dirty="0"/>
              <a:t>    from valid research paper</a:t>
            </a:r>
          </a:p>
          <a:p>
            <a:pPr marL="342900" lvl="0" indent="-342900">
              <a:lnSpc>
                <a:spcPct val="91000"/>
              </a:lnSpc>
              <a:buFont typeface="Symbol" panose="05050102010706020507" pitchFamily="18" charset="2"/>
              <a:buChar char=""/>
            </a:pPr>
            <a:r>
              <a:rPr lang="en-US" sz="2800" dirty="0"/>
              <a:t>Validation of both models with implicit data.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C63C60C7-FBF0-0E0C-8D50-6D1CE28F6485}"/>
              </a:ext>
            </a:extLst>
          </p:cNvPr>
          <p:cNvGrpSpPr/>
          <p:nvPr/>
        </p:nvGrpSpPr>
        <p:grpSpPr>
          <a:xfrm>
            <a:off x="8115434" y="93321"/>
            <a:ext cx="2930312" cy="1361605"/>
            <a:chOff x="8115434" y="93321"/>
            <a:chExt cx="2930312" cy="1361605"/>
          </a:xfrm>
        </p:grpSpPr>
        <p:pic>
          <p:nvPicPr>
            <p:cNvPr id="18" name="Picture 17" descr="A diagram of a circuit&#10;&#10;Description automatically generated">
              <a:extLst>
                <a:ext uri="{FF2B5EF4-FFF2-40B4-BE49-F238E27FC236}">
                  <a16:creationId xmlns:a16="http://schemas.microsoft.com/office/drawing/2014/main" id="{80F04739-A85E-532F-16C4-4DD1292D907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232772" y="93321"/>
              <a:ext cx="2379358" cy="110325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E94A42E-D059-06C5-6BE4-326BED8D48A5}"/>
                </a:ext>
              </a:extLst>
            </p:cNvPr>
            <p:cNvSpPr txBox="1"/>
            <p:nvPr/>
          </p:nvSpPr>
          <p:spPr>
            <a:xfrm>
              <a:off x="8115434" y="1177927"/>
              <a:ext cx="293031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>
                  <a:effectLst/>
                  <a:ea typeface="Times New Roman" panose="02020603050405020304" pitchFamily="18" charset="0"/>
                </a:rPr>
                <a:t>Equivalent circuit including ESR [4]</a:t>
              </a:r>
              <a:endParaRPr lang="en-IN" sz="1200" b="1" dirty="0"/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2A2C94-5F7A-1E1E-37A9-FA17999B26A3}"/>
              </a:ext>
            </a:extLst>
          </p:cNvPr>
          <p:cNvGrpSpPr/>
          <p:nvPr/>
        </p:nvGrpSpPr>
        <p:grpSpPr>
          <a:xfrm>
            <a:off x="5551952" y="4622324"/>
            <a:ext cx="2426276" cy="1579351"/>
            <a:chOff x="5551267" y="3347286"/>
            <a:chExt cx="2426276" cy="1579351"/>
          </a:xfrm>
        </p:grpSpPr>
        <p:pic>
          <p:nvPicPr>
            <p:cNvPr id="11" name="Picture 10" descr="A diagram of a circuit&#10;&#10;Description automatically generated">
              <a:extLst>
                <a:ext uri="{FF2B5EF4-FFF2-40B4-BE49-F238E27FC236}">
                  <a16:creationId xmlns:a16="http://schemas.microsoft.com/office/drawing/2014/main" id="{C372143B-E081-4975-025E-89A23B8CAAE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551267" y="3347286"/>
              <a:ext cx="2426276" cy="1214208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F50129EA-9C1C-8747-E900-0502131B0A5A}"/>
                </a:ext>
              </a:extLst>
            </p:cNvPr>
            <p:cNvSpPr txBox="1"/>
            <p:nvPr/>
          </p:nvSpPr>
          <p:spPr>
            <a:xfrm>
              <a:off x="6012611" y="4649638"/>
              <a:ext cx="170803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200" b="1" dirty="0">
                  <a:effectLst/>
                  <a:ea typeface="Times New Roman" panose="02020603050405020304" pitchFamily="18" charset="0"/>
                </a:rPr>
                <a:t>Two branch model[5]</a:t>
              </a:r>
              <a:endParaRPr lang="en-IN" sz="1200" b="1" dirty="0"/>
            </a:p>
          </p:txBody>
        </p:sp>
      </p:grp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A675CFE1-DB65-D811-CD89-E0290012131A}"/>
              </a:ext>
            </a:extLst>
          </p:cNvPr>
          <p:cNvSpPr txBox="1">
            <a:spLocks/>
          </p:cNvSpPr>
          <p:nvPr/>
        </p:nvSpPr>
        <p:spPr>
          <a:xfrm>
            <a:off x="11255132" y="6393967"/>
            <a:ext cx="9326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97E8200-1950-409B-82E7-99938E7AE35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1254488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/>
          <a:lstStyle/>
          <a:p>
            <a:r>
              <a:rPr lang="en-US" dirty="0"/>
              <a:t>Application</a:t>
            </a:r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BE4C97A2-0C46-4D31-8087-9CD6A045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F97E8200-1950-409B-82E7-99938E7AE35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160803D-247C-5E92-DB35-E34D961DA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demanded power of 25kW for 18s.</a:t>
            </a:r>
          </a:p>
          <a:p>
            <a:endParaRPr lang="en-IN" dirty="0"/>
          </a:p>
        </p:txBody>
      </p:sp>
      <p:pic>
        <p:nvPicPr>
          <p:cNvPr id="3" name="Picture 2" descr="A graph with numbers and a line&#10;&#10;Description automatically generated">
            <a:extLst>
              <a:ext uri="{FF2B5EF4-FFF2-40B4-BE49-F238E27FC236}">
                <a16:creationId xmlns:a16="http://schemas.microsoft.com/office/drawing/2014/main" id="{6AE19F67-CB71-1333-0ACA-8D2A9819AB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9548" y="3429000"/>
            <a:ext cx="5189855" cy="275145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369037320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90476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447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151" y="532257"/>
            <a:ext cx="6142085" cy="2194560"/>
          </a:xfrm>
        </p:spPr>
        <p:txBody>
          <a:bodyPr>
            <a:normAutofit/>
          </a:bodyPr>
          <a:lstStyle/>
          <a:p>
            <a:r>
              <a:rPr lang="en-US" sz="5100" dirty="0">
                <a:solidFill>
                  <a:schemeClr val="tx1"/>
                </a:solidFill>
              </a:rPr>
              <a:t>Non-ideal model analytical results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C20B29FE-8202-E5C9-7352-8B4328561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792" y="2363638"/>
            <a:ext cx="5683158" cy="3992712"/>
          </a:xfrm>
        </p:spPr>
        <p:txBody>
          <a:bodyPr anchor="t">
            <a:norm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The model estimates minimum of 70 units of SC cells. At 18s, 483.09A</a:t>
            </a:r>
            <a:r>
              <a:rPr lang="en-GB" sz="1800" b="1" dirty="0">
                <a:latin typeface="Arial" panose="020B0604020202020204" pitchFamily="34" charset="0"/>
                <a:ea typeface="Times New Roman" panose="02020603050405020304" pitchFamily="18" charset="0"/>
              </a:rPr>
              <a:t> of current shows</a:t>
            </a: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this causes a 20.29V voltage drop. So, the "resistive loss power" at 18s is 20.29 V * 483.09A = 9.80 kW.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GB" sz="1800" b="1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Adding the 25kW load power and 9.80KW resistive loss power gives the 34.80kW instantaneous power peak.</a:t>
            </a:r>
            <a:endParaRPr lang="en-IN" sz="1800" b="1" dirty="0">
              <a:effectLst/>
              <a:latin typeface="Arial" panose="020B0604020202020204" pitchFamily="34" charset="0"/>
              <a:ea typeface="Times New Roman" panose="0202060305040502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77F89CE-BF52-4AF5-8B0B-7E9693734E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8444" y="0"/>
            <a:ext cx="6094474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graph with a line&#10;&#10;Description automatically generated">
            <a:extLst>
              <a:ext uri="{FF2B5EF4-FFF2-40B4-BE49-F238E27FC236}">
                <a16:creationId xmlns:a16="http://schemas.microsoft.com/office/drawing/2014/main" id="{4BCF1CD1-32A7-1A8C-E985-A6A7956EC2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492" y="2269287"/>
            <a:ext cx="3600000" cy="2341722"/>
          </a:xfrm>
          <a:prstGeom prst="rect">
            <a:avLst/>
          </a:prstGeom>
        </p:spPr>
      </p:pic>
      <p:pic>
        <p:nvPicPr>
          <p:cNvPr id="10" name="Picture 9" descr="A graph of power and power&#10;&#10;Description automatically generated">
            <a:extLst>
              <a:ext uri="{FF2B5EF4-FFF2-40B4-BE49-F238E27FC236}">
                <a16:creationId xmlns:a16="http://schemas.microsoft.com/office/drawing/2014/main" id="{90ABCCD5-E388-2279-3E10-D223052678C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492" y="4665193"/>
            <a:ext cx="3600000" cy="2111164"/>
          </a:xfrm>
          <a:prstGeom prst="rect">
            <a:avLst/>
          </a:prstGeom>
        </p:spPr>
      </p:pic>
      <p:pic>
        <p:nvPicPr>
          <p:cNvPr id="8" name="Content Placeholder 7" descr="A graph showing the number of terminals&#10;&#10;Description automatically generated">
            <a:extLst>
              <a:ext uri="{FF2B5EF4-FFF2-40B4-BE49-F238E27FC236}">
                <a16:creationId xmlns:a16="http://schemas.microsoft.com/office/drawing/2014/main" id="{1138409E-F3DC-B3B2-F889-187706AA50D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6492" y="81643"/>
            <a:ext cx="3600000" cy="2106001"/>
          </a:xfrm>
          <a:prstGeom prst="rect">
            <a:avLst/>
          </a:prstGeom>
        </p:spPr>
      </p:pic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BE4C97A2-0C46-4D31-8087-9CD6A045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8786" y="6337779"/>
            <a:ext cx="932688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>
                <a:solidFill>
                  <a:schemeClr val="bg1"/>
                </a:solidFill>
              </a:rPr>
              <a:pPr algn="l">
                <a:spcAft>
                  <a:spcPts val="600"/>
                </a:spcAft>
              </a:pPr>
              <a:t>7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291746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A1532C1F-056C-40A0-BDFA-8615911E7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90476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3152632"/>
            <a:ext cx="12190476" cy="370536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96F75DE-8A44-4EC5-83C6-95BDDF10D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626" y="3511486"/>
            <a:ext cx="5128260" cy="2486011"/>
          </a:xfrm>
        </p:spPr>
        <p:txBody>
          <a:bodyPr>
            <a:normAutofit fontScale="90000"/>
          </a:bodyPr>
          <a:lstStyle/>
          <a:p>
            <a:r>
              <a:rPr lang="en-US" sz="5600" dirty="0">
                <a:solidFill>
                  <a:schemeClr val="tx1"/>
                </a:solidFill>
              </a:rPr>
              <a:t>Non-ideal model</a:t>
            </a:r>
            <a:br>
              <a:rPr lang="en-US" sz="5600" dirty="0">
                <a:solidFill>
                  <a:schemeClr val="tx1"/>
                </a:solidFill>
              </a:rPr>
            </a:br>
            <a:r>
              <a:rPr lang="en-US" sz="5600" dirty="0">
                <a:solidFill>
                  <a:schemeClr val="tx1"/>
                </a:solidFill>
              </a:rPr>
              <a:t>MATLAB results</a:t>
            </a:r>
          </a:p>
        </p:txBody>
      </p:sp>
      <p:pic>
        <p:nvPicPr>
          <p:cNvPr id="12" name="Picture 11" descr="A graph of a power line&#10;&#10;Description automatically generated">
            <a:extLst>
              <a:ext uri="{FF2B5EF4-FFF2-40B4-BE49-F238E27FC236}">
                <a16:creationId xmlns:a16="http://schemas.microsoft.com/office/drawing/2014/main" id="{BDEF75BD-F9CC-D44E-5E32-F916C3CDB9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2000" y="17252"/>
            <a:ext cx="4080000" cy="30600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Content Placeholder 4" descr="A graph of a line&#10;&#10;Description automatically generated">
            <a:extLst>
              <a:ext uri="{FF2B5EF4-FFF2-40B4-BE49-F238E27FC236}">
                <a16:creationId xmlns:a16="http://schemas.microsoft.com/office/drawing/2014/main" id="{1A3C9478-9CCA-1778-C51E-C52B8F775B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56000" y="17252"/>
            <a:ext cx="4080000" cy="306000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Picture 10" descr="A graph of a voltage&#10;&#10;Description automatically generated">
            <a:extLst>
              <a:ext uri="{FF2B5EF4-FFF2-40B4-BE49-F238E27FC236}">
                <a16:creationId xmlns:a16="http://schemas.microsoft.com/office/drawing/2014/main" id="{44F35B02-F5BA-4CDE-AF3B-E37E5BB5E5C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252"/>
            <a:ext cx="4080000" cy="3060000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BE4C97A2-0C46-4D31-8087-9CD6A0458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/>
              <a:pPr algn="l">
                <a:spcAft>
                  <a:spcPts val="600"/>
                </a:spcAft>
              </a:pPr>
              <a:t>8</a:t>
            </a:fld>
            <a:endParaRPr lang="en-US"/>
          </a:p>
        </p:txBody>
      </p:sp>
      <p:pic>
        <p:nvPicPr>
          <p:cNvPr id="14" name="Picture 13" descr="A graph of a number of different models&#10;&#10;Description automatically generated with medium confidence">
            <a:extLst>
              <a:ext uri="{FF2B5EF4-FFF2-40B4-BE49-F238E27FC236}">
                <a16:creationId xmlns:a16="http://schemas.microsoft.com/office/drawing/2014/main" id="{DFB245AA-6C29-D7C8-11D2-712D30A0B30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00070" y="5013941"/>
            <a:ext cx="2995930" cy="1799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5" name="Picture 14" descr="A graph of a number of electrical voltages&#10;&#10;Description automatically generated">
            <a:extLst>
              <a:ext uri="{FF2B5EF4-FFF2-40B4-BE49-F238E27FC236}">
                <a16:creationId xmlns:a16="http://schemas.microsoft.com/office/drawing/2014/main" id="{B0E595E2-3E8F-CAE2-F35E-9B290904F81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6895" y="3179179"/>
            <a:ext cx="2999105" cy="179959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6" name="Picture 25" descr="A graph of power and matlab model&#10;&#10;Description automatically generated">
            <a:extLst>
              <a:ext uri="{FF2B5EF4-FFF2-40B4-BE49-F238E27FC236}">
                <a16:creationId xmlns:a16="http://schemas.microsoft.com/office/drawing/2014/main" id="{4A56688D-3922-2FB9-F32A-33116297FAD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428" y="3758353"/>
            <a:ext cx="4140000" cy="248680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0572888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350" y="352319"/>
            <a:ext cx="6688914" cy="1700784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Experimental data </a:t>
            </a:r>
            <a:br>
              <a:rPr lang="en-US" dirty="0"/>
            </a:br>
            <a:r>
              <a:rPr lang="en-US" sz="3300" dirty="0"/>
              <a:t>vs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Non-ideal model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CC302B43-8755-4B25-A036-68EFC879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F97E8200-1950-409B-82E7-99938E7AE35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7" name="Picture 16" descr="A graph of a function&#10;&#10;Description automatically generated">
            <a:extLst>
              <a:ext uri="{FF2B5EF4-FFF2-40B4-BE49-F238E27FC236}">
                <a16:creationId xmlns:a16="http://schemas.microsoft.com/office/drawing/2014/main" id="{F97FC2F9-4DF6-0AEB-E38D-FD8B419C0B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920" y="2398912"/>
            <a:ext cx="4479805" cy="414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 descr="A graph of a number of data&#10;&#10;Description automatically generated with medium confidence">
            <a:extLst>
              <a:ext uri="{FF2B5EF4-FFF2-40B4-BE49-F238E27FC236}">
                <a16:creationId xmlns:a16="http://schemas.microsoft.com/office/drawing/2014/main" id="{003DE2F6-4783-8AC7-96A9-2B767CD46E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250" y="2284806"/>
            <a:ext cx="4320000" cy="2198133"/>
          </a:xfrm>
          <a:prstGeom prst="rect">
            <a:avLst/>
          </a:prstGeom>
        </p:spPr>
      </p:pic>
      <p:pic>
        <p:nvPicPr>
          <p:cNvPr id="19" name="Picture 18" descr="A graph with a blue line&#10;&#10;Description automatically generated">
            <a:extLst>
              <a:ext uri="{FF2B5EF4-FFF2-40B4-BE49-F238E27FC236}">
                <a16:creationId xmlns:a16="http://schemas.microsoft.com/office/drawing/2014/main" id="{EF4396FC-D40C-6B55-5A39-13948F40004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76250" y="4500191"/>
            <a:ext cx="4320000" cy="2348892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A3C3445-AAEF-F0BF-FA90-15DB642B7CA5}"/>
              </a:ext>
            </a:extLst>
          </p:cNvPr>
          <p:cNvSpPr txBox="1">
            <a:spLocks/>
          </p:cNvSpPr>
          <p:nvPr/>
        </p:nvSpPr>
        <p:spPr>
          <a:xfrm>
            <a:off x="91736" y="577371"/>
            <a:ext cx="5255930" cy="12506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/>
              <a:t>validation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6358C0-12FF-E78F-287D-224D0EF2B874}"/>
              </a:ext>
            </a:extLst>
          </p:cNvPr>
          <p:cNvCxnSpPr/>
          <p:nvPr/>
        </p:nvCxnSpPr>
        <p:spPr>
          <a:xfrm>
            <a:off x="5201728" y="0"/>
            <a:ext cx="0" cy="2284806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B99C9C5-DA24-2B27-9D91-9C2ECE914294}"/>
              </a:ext>
            </a:extLst>
          </p:cNvPr>
          <p:cNvSpPr txBox="1"/>
          <p:nvPr/>
        </p:nvSpPr>
        <p:spPr>
          <a:xfrm>
            <a:off x="516920" y="6538912"/>
            <a:ext cx="44798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b="1" dirty="0">
                <a:ea typeface="Times New Roman" panose="02020603050405020304" pitchFamily="18" charset="0"/>
              </a:rPr>
              <a:t>E</a:t>
            </a:r>
            <a:r>
              <a:rPr lang="en-GB" sz="1400" b="1" dirty="0">
                <a:effectLst/>
                <a:ea typeface="Times New Roman" panose="02020603050405020304" pitchFamily="18" charset="0"/>
              </a:rPr>
              <a:t>xperimental graph for validation [6]</a:t>
            </a:r>
            <a:endParaRPr lang="en-IN" sz="1400" b="1" dirty="0"/>
          </a:p>
        </p:txBody>
      </p:sp>
    </p:spTree>
    <p:extLst>
      <p:ext uri="{BB962C8B-B14F-4D97-AF65-F5344CB8AC3E}">
        <p14:creationId xmlns:p14="http://schemas.microsoft.com/office/powerpoint/2010/main" val="2563119616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0B6389-2374-4677-B8BB-59410CCC3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576" y="4013014"/>
            <a:ext cx="10410847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400" dirty="0"/>
              <a:t>Two branch model results</a:t>
            </a:r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AD7F6A06-93CD-4A18-970E-BD0173746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>
                <a:solidFill>
                  <a:schemeClr val="bg1"/>
                </a:solidFill>
              </a:rPr>
              <a:pPr algn="l">
                <a:spcAft>
                  <a:spcPts val="600"/>
                </a:spcAft>
              </a:pPr>
              <a:t>10</a:t>
            </a:fld>
            <a:endParaRPr lang="en-US">
              <a:solidFill>
                <a:schemeClr val="bg1"/>
              </a:solidFill>
            </a:endParaRPr>
          </a:p>
        </p:txBody>
      </p:sp>
      <p:pic>
        <p:nvPicPr>
          <p:cNvPr id="15" name="Picture 14" descr="A graph of a voltage&#10;&#10;Description automatically generated">
            <a:extLst>
              <a:ext uri="{FF2B5EF4-FFF2-40B4-BE49-F238E27FC236}">
                <a16:creationId xmlns:a16="http://schemas.microsoft.com/office/drawing/2014/main" id="{36C2CB1E-F544-5B0F-4278-331969FFB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000" y="484754"/>
            <a:ext cx="3960000" cy="2970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8" name="Picture 17" descr="A graph with a line&#10;&#10;Description automatically generated">
            <a:extLst>
              <a:ext uri="{FF2B5EF4-FFF2-40B4-BE49-F238E27FC236}">
                <a16:creationId xmlns:a16="http://schemas.microsoft.com/office/drawing/2014/main" id="{3120663E-7258-9C84-A1E4-1C7AD5499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16000" y="484754"/>
            <a:ext cx="3960000" cy="2970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0" name="Picture 19" descr="A graph with a line&#10;&#10;Description automatically generated">
            <a:extLst>
              <a:ext uri="{FF2B5EF4-FFF2-40B4-BE49-F238E27FC236}">
                <a16:creationId xmlns:a16="http://schemas.microsoft.com/office/drawing/2014/main" id="{9E5D0668-B0C6-00B5-163F-DE0CD6CBAF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54000" y="484754"/>
            <a:ext cx="3960000" cy="297037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5" name="Picture 34" descr="A diagram of a circuit&#10;&#10;Description automatically generated">
            <a:extLst>
              <a:ext uri="{FF2B5EF4-FFF2-40B4-BE49-F238E27FC236}">
                <a16:creationId xmlns:a16="http://schemas.microsoft.com/office/drawing/2014/main" id="{FAB9F20A-C30B-77DC-9246-BCAFD361DDB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7585" y="4735678"/>
            <a:ext cx="3596828" cy="1800000"/>
          </a:xfrm>
          <a:prstGeom prst="rect">
            <a:avLst/>
          </a:prstGeom>
          <a:ln>
            <a:noFill/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10A96E1A-4F5C-8902-782F-8C4B14A06784}"/>
              </a:ext>
            </a:extLst>
          </p:cNvPr>
          <p:cNvSpPr txBox="1"/>
          <p:nvPr/>
        </p:nvSpPr>
        <p:spPr>
          <a:xfrm>
            <a:off x="5241983" y="6543576"/>
            <a:ext cx="1708031" cy="2769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schemeClr val="bg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Two branch model[3]</a:t>
            </a:r>
            <a:endParaRPr lang="en-IN" sz="12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793649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256B7E-1633-44AB-8584-82DF5B726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1350" y="352319"/>
            <a:ext cx="6688914" cy="1700784"/>
          </a:xfrm>
        </p:spPr>
        <p:txBody>
          <a:bodyPr>
            <a:normAutofit fontScale="90000"/>
          </a:bodyPr>
          <a:lstStyle/>
          <a:p>
            <a:r>
              <a:rPr lang="en-US" dirty="0"/>
              <a:t>Experimental data </a:t>
            </a:r>
            <a:br>
              <a:rPr lang="en-US" dirty="0"/>
            </a:br>
            <a:r>
              <a:rPr lang="en-US" sz="3300" dirty="0"/>
              <a:t>vs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/>
              <a:t>two branch model</a:t>
            </a:r>
          </a:p>
        </p:txBody>
      </p:sp>
      <p:sp>
        <p:nvSpPr>
          <p:cNvPr id="9" name="Slide Number Placeholder 9">
            <a:extLst>
              <a:ext uri="{FF2B5EF4-FFF2-40B4-BE49-F238E27FC236}">
                <a16:creationId xmlns:a16="http://schemas.microsoft.com/office/drawing/2014/main" id="{CC302B43-8755-4B25-A036-68EFC87912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F97E8200-1950-409B-82E7-99938E7AE35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A3C3445-AAEF-F0BF-FA90-15DB642B7CA5}"/>
              </a:ext>
            </a:extLst>
          </p:cNvPr>
          <p:cNvSpPr txBox="1">
            <a:spLocks/>
          </p:cNvSpPr>
          <p:nvPr/>
        </p:nvSpPr>
        <p:spPr>
          <a:xfrm>
            <a:off x="91736" y="577371"/>
            <a:ext cx="5255930" cy="125068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8800" dirty="0"/>
              <a:t>validation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96358C0-12FF-E78F-287D-224D0EF2B874}"/>
              </a:ext>
            </a:extLst>
          </p:cNvPr>
          <p:cNvCxnSpPr/>
          <p:nvPr/>
        </p:nvCxnSpPr>
        <p:spPr>
          <a:xfrm>
            <a:off x="5201728" y="0"/>
            <a:ext cx="0" cy="2284806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 descr="A graph with a line going up&#10;&#10;Description automatically generated">
            <a:extLst>
              <a:ext uri="{FF2B5EF4-FFF2-40B4-BE49-F238E27FC236}">
                <a16:creationId xmlns:a16="http://schemas.microsoft.com/office/drawing/2014/main" id="{E260CA46-207E-27EA-CA30-D1C49A9A807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2693" y="2741561"/>
            <a:ext cx="5874326" cy="3240000"/>
          </a:xfrm>
          <a:prstGeom prst="rect">
            <a:avLst/>
          </a:prstGeom>
        </p:spPr>
      </p:pic>
      <p:pic>
        <p:nvPicPr>
          <p:cNvPr id="10" name="Picture 9" descr="A graph of a line&#10;&#10;Description automatically generated with medium confidence">
            <a:extLst>
              <a:ext uri="{FF2B5EF4-FFF2-40B4-BE49-F238E27FC236}">
                <a16:creationId xmlns:a16="http://schemas.microsoft.com/office/drawing/2014/main" id="{42741697-7653-6B94-E487-6CFAE1C54B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81" y="2741561"/>
            <a:ext cx="6200957" cy="32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671198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65E0E3C-32F3-480B-9842-7611BBE2E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12708"/>
            <a:ext cx="12192000" cy="2645291"/>
          </a:xfrm>
          <a:prstGeom prst="rect">
            <a:avLst/>
          </a:prstGeom>
          <a:solidFill>
            <a:schemeClr val="tx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191A4-7839-4F63-B17C-7C366C5948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644" y="4572003"/>
            <a:ext cx="10268712" cy="116912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7200"/>
              <a:t>validation</a:t>
            </a:r>
          </a:p>
        </p:txBody>
      </p:sp>
      <p:pic>
        <p:nvPicPr>
          <p:cNvPr id="23" name="Picture 22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9EDA190A-7F6C-99A8-AA12-C893C0A90E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0232" y="191250"/>
            <a:ext cx="8949152" cy="3960000"/>
          </a:xfrm>
          <a:prstGeom prst="rect">
            <a:avLst/>
          </a:prstGeom>
        </p:spPr>
      </p:pic>
      <p:sp>
        <p:nvSpPr>
          <p:cNvPr id="15" name="Slide Number Placeholder 9">
            <a:extLst>
              <a:ext uri="{FF2B5EF4-FFF2-40B4-BE49-F238E27FC236}">
                <a16:creationId xmlns:a16="http://schemas.microsoft.com/office/drawing/2014/main" id="{87DE1BC5-FD94-4773-8370-432A38DB88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F97E8200-1950-409B-82E7-99938E7AE355}" type="slidenum">
              <a:rPr lang="en-US" smtClean="0">
                <a:solidFill>
                  <a:schemeClr val="bg1"/>
                </a:solidFill>
              </a:rPr>
              <a:pPr algn="l">
                <a:spcAft>
                  <a:spcPts val="600"/>
                </a:spcAft>
              </a:pPr>
              <a:t>12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150859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1D153959-30FA-4987-A094-7243641F4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26498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EB6D1D7F-141C-4D8E-BFBA-D95B68E163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58DA214-7FDA-4C9D-A7CF-9AD725E290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7345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itle 56">
            <a:extLst>
              <a:ext uri="{FF2B5EF4-FFF2-40B4-BE49-F238E27FC236}">
                <a16:creationId xmlns:a16="http://schemas.microsoft.com/office/drawing/2014/main" id="{D9F93E89-6BB0-44BD-A234-9F0747573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643467"/>
            <a:ext cx="3212593" cy="557106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kern="1200" cap="all" spc="120" baseline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813D316-0EBB-D49F-E067-3FBE81F9D572}"/>
              </a:ext>
            </a:extLst>
          </p:cNvPr>
          <p:cNvSpPr>
            <a:spLocks/>
          </p:cNvSpPr>
          <p:nvPr/>
        </p:nvSpPr>
        <p:spPr>
          <a:xfrm>
            <a:off x="-12804" y="1225484"/>
            <a:ext cx="4059934" cy="3951807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19606920-6D8A-4305-AB8A-83B7F93915CE}"/>
              </a:ext>
            </a:extLst>
          </p:cNvPr>
          <p:cNvSpPr>
            <a:spLocks/>
          </p:cNvSpPr>
          <p:nvPr/>
        </p:nvSpPr>
        <p:spPr>
          <a:xfrm>
            <a:off x="5300811" y="2814608"/>
            <a:ext cx="3058185" cy="1282939"/>
          </a:xfrm>
          <a:prstGeom prst="rect">
            <a:avLst/>
          </a:prstGeom>
        </p:spPr>
        <p:txBody>
          <a:bodyPr>
            <a:noAutofit/>
          </a:bodyPr>
          <a:lstStyle/>
          <a:p>
            <a:pPr defTabSz="804672">
              <a:spcAft>
                <a:spcPts val="600"/>
              </a:spcAft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Sai Gopal Addagarala</a:t>
            </a:r>
          </a:p>
          <a:p>
            <a:pPr defTabSz="804672">
              <a:spcAft>
                <a:spcPts val="600"/>
              </a:spcAft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21060080</a:t>
            </a:r>
          </a:p>
          <a:p>
            <a:pPr defTabSz="804672">
              <a:spcAft>
                <a:spcPts val="600"/>
              </a:spcAft>
            </a:pPr>
            <a:r>
              <a:rPr lang="en-US" sz="20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sa22abc@herts.ac.uk</a:t>
            </a:r>
            <a:endParaRPr lang="en-US" sz="2000" b="1" dirty="0"/>
          </a:p>
        </p:txBody>
      </p:sp>
      <p:sp>
        <p:nvSpPr>
          <p:cNvPr id="6" name="Slide Number Placeholder 9">
            <a:extLst>
              <a:ext uri="{FF2B5EF4-FFF2-40B4-BE49-F238E27FC236}">
                <a16:creationId xmlns:a16="http://schemas.microsoft.com/office/drawing/2014/main" id="{9DA57D34-956C-7203-79A6-294B6D75B0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F97E8200-1950-409B-82E7-99938E7AE355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23523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6F7BB-30A8-4980-AD4A-2FB0B53FA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120" y="317814"/>
            <a:ext cx="10268712" cy="1700784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17" name="Slide Number Placeholder 9">
            <a:extLst>
              <a:ext uri="{FF2B5EF4-FFF2-40B4-BE49-F238E27FC236}">
                <a16:creationId xmlns:a16="http://schemas.microsoft.com/office/drawing/2014/main" id="{FB1D3245-1EEE-45B5-A63B-774B81FEF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/>
          <a:lstStyle/>
          <a:p>
            <a:fld id="{F97E8200-1950-409B-82E7-99938E7AE355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8B970B6-A30D-A687-7D90-07F01C6156F6}"/>
              </a:ext>
            </a:extLst>
          </p:cNvPr>
          <p:cNvSpPr txBox="1"/>
          <p:nvPr/>
        </p:nvSpPr>
        <p:spPr>
          <a:xfrm>
            <a:off x="534838" y="2475785"/>
            <a:ext cx="1099005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[1] 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J.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Libich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J.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Máca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J.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Vondrák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O.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Čech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and M.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Sedlaříková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“Supercapacitors: Properties and applications,” </a:t>
            </a:r>
            <a:r>
              <a:rPr lang="en-GB" sz="1600" i="1" dirty="0">
                <a:effectLst/>
                <a:ea typeface="Times New Roman" panose="02020603050405020304" pitchFamily="18" charset="0"/>
              </a:rPr>
              <a:t>J Energy Storage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vol. 17, pp. 224–227, Jun. 2018,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doi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: 10.1016/j.est.2018.03.012.</a:t>
            </a:r>
          </a:p>
          <a:p>
            <a:endParaRPr lang="en-GB" sz="1600" dirty="0">
              <a:effectLst/>
              <a:ea typeface="Times New Roman" panose="02020603050405020304" pitchFamily="18" charset="0"/>
            </a:endParaRPr>
          </a:p>
          <a:p>
            <a:r>
              <a:rPr lang="en-GB" sz="1600" dirty="0">
                <a:ea typeface="Times New Roman" panose="02020603050405020304" pitchFamily="18" charset="0"/>
              </a:rPr>
              <a:t>[2] 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Q. Zhang and W. Deng, “An adaptive energy management system for electric vehicles based on driving cycle identification and wavelet transform,” </a:t>
            </a:r>
            <a:r>
              <a:rPr lang="en-GB" sz="1600" i="1" dirty="0">
                <a:effectLst/>
                <a:ea typeface="Times New Roman" panose="02020603050405020304" pitchFamily="18" charset="0"/>
              </a:rPr>
              <a:t>Energies (Basel)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vol. 9, no. 5, 2016,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doi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: 10.3390/en9050341.</a:t>
            </a:r>
          </a:p>
          <a:p>
            <a:endParaRPr lang="en-GB" sz="1600" dirty="0">
              <a:ea typeface="Times New Roman" panose="02020603050405020304" pitchFamily="18" charset="0"/>
            </a:endParaRPr>
          </a:p>
          <a:p>
            <a:r>
              <a:rPr lang="en-GB" sz="1600" dirty="0">
                <a:effectLst/>
                <a:ea typeface="Times New Roman" panose="02020603050405020304" pitchFamily="18" charset="0"/>
              </a:rPr>
              <a:t>[3] “TC2700 BOOSTCAP ® Ultracapacitor.” [Online]. Available: www.maxwell.com</a:t>
            </a:r>
          </a:p>
          <a:p>
            <a:endParaRPr lang="en-GB" sz="1600" dirty="0">
              <a:effectLst/>
              <a:ea typeface="Times New Roman" panose="02020603050405020304" pitchFamily="18" charset="0"/>
            </a:endParaRPr>
          </a:p>
          <a:p>
            <a:r>
              <a:rPr lang="en-GB" sz="1600" dirty="0"/>
              <a:t>[4] 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H. Douglas and P. Pillay, “Sizing Ultracapacitors For Hybrid Electric Vehicles.”</a:t>
            </a:r>
          </a:p>
          <a:p>
            <a:endParaRPr lang="en-GB" sz="1600" dirty="0">
              <a:effectLst/>
              <a:ea typeface="Times New Roman" panose="02020603050405020304" pitchFamily="18" charset="0"/>
            </a:endParaRPr>
          </a:p>
          <a:p>
            <a:r>
              <a:rPr lang="en-GB" sz="1600" dirty="0"/>
              <a:t>[5] 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S. Bansal, P. Nambisan, P. Saha, and M.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Khanra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“Effect of Supercapacitor Modelling and Unit Cell Capacitance Selection Towards Economic Sizing of Energy Storage System in Electric Vehicle,” </a:t>
            </a:r>
            <a:r>
              <a:rPr lang="en-GB" sz="1600" i="1" dirty="0">
                <a:effectLst/>
                <a:ea typeface="Times New Roman" panose="02020603050405020304" pitchFamily="18" charset="0"/>
              </a:rPr>
              <a:t>J Energy Storage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vol. 51, Jul. 2022,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doi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: 10.1016/j.est.2022.104517.</a:t>
            </a:r>
          </a:p>
          <a:p>
            <a:endParaRPr lang="en-GB" sz="1600" dirty="0">
              <a:ea typeface="Times New Roman" panose="02020603050405020304" pitchFamily="18" charset="0"/>
            </a:endParaRPr>
          </a:p>
          <a:p>
            <a:r>
              <a:rPr lang="en-GB" sz="1600" dirty="0">
                <a:effectLst/>
                <a:ea typeface="Times New Roman" panose="02020603050405020304" pitchFamily="18" charset="0"/>
              </a:rPr>
              <a:t>[6] S. Marin-Coca, A.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Ostadrahimi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S.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Bifaretti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E.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Roibas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-Millan, and S.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Pindado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“New Parameter Identification Method for Supercapacitor Model,” </a:t>
            </a:r>
            <a:r>
              <a:rPr lang="en-GB" sz="1600" i="1" dirty="0">
                <a:effectLst/>
                <a:ea typeface="Times New Roman" panose="02020603050405020304" pitchFamily="18" charset="0"/>
              </a:rPr>
              <a:t>IEEE Access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, vol. 11, pp. 21771–21782, 2023, </a:t>
            </a:r>
            <a:r>
              <a:rPr lang="en-GB" sz="1600" dirty="0" err="1">
                <a:effectLst/>
                <a:ea typeface="Times New Roman" panose="02020603050405020304" pitchFamily="18" charset="0"/>
              </a:rPr>
              <a:t>doi</a:t>
            </a:r>
            <a:r>
              <a:rPr lang="en-GB" sz="1600" dirty="0">
                <a:effectLst/>
                <a:ea typeface="Times New Roman" panose="02020603050405020304" pitchFamily="18" charset="0"/>
              </a:rPr>
              <a:t>: 10.1109/ACCESS.2023.3250965.</a:t>
            </a:r>
            <a:endParaRPr lang="en-IN" sz="1600" dirty="0">
              <a:effectLst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779680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09A1C012-8297-4361-ACE8-A2509FB189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206240"/>
            <a:ext cx="12192000" cy="26517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4AA13AD3-0A4F-475A-BEBB-DEEFF5C09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graph with colorful squares&#10;&#10;Description automatically generated with medium confidence">
            <a:extLst>
              <a:ext uri="{FF2B5EF4-FFF2-40B4-BE49-F238E27FC236}">
                <a16:creationId xmlns:a16="http://schemas.microsoft.com/office/drawing/2014/main" id="{D309E8A4-A486-9060-B3AB-89E12FA63C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604" t="-23982" r="-1631" b="-18551"/>
          <a:stretch/>
        </p:blipFill>
        <p:spPr>
          <a:xfrm>
            <a:off x="-181621" y="-103892"/>
            <a:ext cx="12558290" cy="7065794"/>
          </a:xfrm>
          <a:prstGeom prst="rect">
            <a:avLst/>
          </a:prstGeom>
        </p:spPr>
      </p:pic>
      <p:sp>
        <p:nvSpPr>
          <p:cNvPr id="46" name="Rectangle 45">
            <a:extLst>
              <a:ext uri="{FF2B5EF4-FFF2-40B4-BE49-F238E27FC236}">
                <a16:creationId xmlns:a16="http://schemas.microsoft.com/office/drawing/2014/main" id="{365A786E-9028-443F-8713-B9552D9A23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412777" y="0"/>
            <a:ext cx="7779221" cy="6858000"/>
          </a:xfrm>
          <a:prstGeom prst="rect">
            <a:avLst/>
          </a:prstGeom>
          <a:gradFill>
            <a:gsLst>
              <a:gs pos="58000">
                <a:schemeClr val="tx1">
                  <a:alpha val="30000"/>
                </a:schemeClr>
              </a:gs>
              <a:gs pos="33000">
                <a:schemeClr val="tx1">
                  <a:alpha val="2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3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0742C8-15E6-39DE-35C1-49F44D10E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36525"/>
            <a:ext cx="12191998" cy="11669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800" dirty="0">
                <a:solidFill>
                  <a:schemeClr val="tx1"/>
                </a:solidFill>
              </a:rPr>
              <a:t>Project</a:t>
            </a:r>
            <a:r>
              <a:rPr lang="en-US" sz="5800" dirty="0"/>
              <a:t> </a:t>
            </a:r>
            <a:r>
              <a:rPr lang="en-US" sz="5800" dirty="0">
                <a:solidFill>
                  <a:schemeClr val="tx1"/>
                </a:solidFill>
              </a:rPr>
              <a:t>management &amp; engagement</a:t>
            </a:r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B82F5A5F-3BA3-D705-8986-08487847F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60120" y="6356350"/>
            <a:ext cx="5504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 cap="all" spc="50" baseline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Sample Footer Text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83DAC7D9-DCE1-0BF1-AD62-B7C883724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296144" y="6356350"/>
            <a:ext cx="932688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spcAft>
                <a:spcPts val="600"/>
              </a:spcAft>
            </a:pPr>
            <a:fld id="{294A09A9-5501-47C1-A89A-A340965A2BE2}" type="slidenum">
              <a:rPr lang="en-US" smtClean="0">
                <a:solidFill>
                  <a:srgbClr val="FFFFFF"/>
                </a:solidFill>
              </a:rPr>
              <a:pPr algn="l">
                <a:spcAft>
                  <a:spcPts val="600"/>
                </a:spcAft>
              </a:pPr>
              <a:t>15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759320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JuxtaposeVTI">
  <a:themeElements>
    <a:clrScheme name="Juxtapose">
      <a:dk1>
        <a:sysClr val="windowText" lastClr="000000"/>
      </a:dk1>
      <a:lt1>
        <a:sysClr val="window" lastClr="FFFFFF"/>
      </a:lt1>
      <a:dk2>
        <a:srgbClr val="3F3F3F"/>
      </a:dk2>
      <a:lt2>
        <a:srgbClr val="F8F7F5"/>
      </a:lt2>
      <a:accent1>
        <a:srgbClr val="F99700"/>
      </a:accent1>
      <a:accent2>
        <a:srgbClr val="00BAC7"/>
      </a:accent2>
      <a:accent3>
        <a:srgbClr val="FF5C21"/>
      </a:accent3>
      <a:accent4>
        <a:srgbClr val="6F7EFD"/>
      </a:accent4>
      <a:accent5>
        <a:srgbClr val="ACACAC"/>
      </a:accent5>
      <a:accent6>
        <a:srgbClr val="737373"/>
      </a:accent6>
      <a:hlink>
        <a:srgbClr val="0099FF"/>
      </a:hlink>
      <a:folHlink>
        <a:srgbClr val="868686"/>
      </a:folHlink>
    </a:clrScheme>
    <a:fontScheme name="Custom 167">
      <a:majorFont>
        <a:latin typeface="Franklin Gothic Demi Cond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JuxtaposeVTI" id="{FBDCC3B4-6EA8-442A-B697-43C068E31FE3}" vid="{090F2E09-E4E2-4F71-A70E-279F5A0D9E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0" ma:contentTypeDescription="Create a new document." ma:contentTypeScope="" ma:versionID="1267097ee5f5874adfcc408041ae252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95891a93df65b14727750f2c06c306c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  <xsd:element ref="ns1:_ip_UnifiedCompliancePolicyProperties" minOccurs="0"/>
                <xsd:element ref="ns1:_ip_UnifiedCompliancePolicyUIAction" minOccurs="0"/>
                <xsd:element ref="ns2:Image" minOccurs="0"/>
                <xsd:element ref="ns4:TaxCatchAll" minOccurs="0"/>
                <xsd:element ref="ns2:ImageTagsTaxHTFiel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22" nillable="true" ma:displayName="Image" ma:format="Image" ma:internalName="Imag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C069F72-2015-4FB6-9588-A49CB14BDC12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D6DA60BD-0042-4722-B671-D551884D1EE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D85BFFF-2B6E-4D20-8938-61E36B8CFE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_JuxtaposeVTI</Template>
  <TotalTime>0</TotalTime>
  <Words>722</Words>
  <Application>Microsoft Office PowerPoint</Application>
  <PresentationFormat>Widescreen</PresentationFormat>
  <Paragraphs>100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Calibri</vt:lpstr>
      <vt:lpstr>Franklin Gothic Demi Cond</vt:lpstr>
      <vt:lpstr>Franklin Gothic Medium</vt:lpstr>
      <vt:lpstr>Symbol</vt:lpstr>
      <vt:lpstr>Wingdings</vt:lpstr>
      <vt:lpstr>JuxtaposeVTI</vt:lpstr>
      <vt:lpstr>Optimal sizing of supercapacitors  for HEV’s </vt:lpstr>
      <vt:lpstr>introduction</vt:lpstr>
      <vt:lpstr>Aim</vt:lpstr>
      <vt:lpstr>Factors to consider SC's</vt:lpstr>
      <vt:lpstr>methodology</vt:lpstr>
      <vt:lpstr>Application</vt:lpstr>
      <vt:lpstr>Non-ideal model analytical results</vt:lpstr>
      <vt:lpstr>Non-ideal model MATLAB results</vt:lpstr>
      <vt:lpstr>Experimental data  vs  Non-ideal model</vt:lpstr>
      <vt:lpstr>Two branch model results</vt:lpstr>
      <vt:lpstr>Experimental data  vs  two branch model</vt:lpstr>
      <vt:lpstr>validation</vt:lpstr>
      <vt:lpstr>THANK YOU</vt:lpstr>
      <vt:lpstr>references</vt:lpstr>
      <vt:lpstr>Project management &amp; engagement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2021-04-27T10:31:44Z</dcterms:created>
  <dcterms:modified xsi:type="dcterms:W3CDTF">2024-01-08T15:59:47Z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